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Le Minerale</c:v>
                </c:pt>
              </c:strCache>
            </c:strRef>
          </c:tx>
          <c:spPr>
            <a:solidFill>
              <a:srgbClr val="2E86C8"/>
            </a:solidFill>
            <a:effectLst/>
          </c:spPr>
          <c:invertIfNegative val="0"/>
          <c:dLbls>
            <c:numFmt formatCode="0.0&quot;%&quot;" sourceLinked="0"/>
            <c:txPr>
              <a:bodyPr/>
              <a:lstStyle/>
              <a:p>
                <a:pPr>
                  <a:defRPr b="1" i="0" strike="noStrike" sz="1000" u="none">
                    <a:solidFill>
                      <a:srgbClr val="16203A"/>
                    </a:solidFill>
                    <a:latin typeface="Arial"/>
                  </a:defRPr>
                </a:pPr>
              </a:p>
            </c:txPr>
            <c:showLegendKey val="0"/>
            <c:showVal val="1"/>
            <c:showCatName val="0"/>
            <c:showSerName val="0"/>
            <c:showPercent val="0"/>
            <c:showBubbleSize val="0"/>
            <c:showLeaderLines val="0"/>
          </c:dLbls>
          <c:cat>
            <c:multiLvlStrRef>
              <c:f>Sheet1!$A$2:$A$3</c:f>
              <c:multiLvlStrCache>
                <c:ptCount val="2"/>
                <c:lvl>
                  <c:pt idx="0">
                    <c:v>2021</c:v>
                  </c:pt>
                  <c:pt idx="1">
                    <c:v>2024</c:v>
                  </c:pt>
                </c:lvl>
              </c:multiLvlStrCache>
            </c:multiLvlStrRef>
          </c:cat>
          <c:val>
            <c:numRef>
              <c:f>Sheet1!$B$2:$B$3</c:f>
              <c:numCache>
                <c:formatCode>General</c:formatCode>
                <c:ptCount val="2"/>
                <c:pt idx="0">
                  <c:v>4.6</c:v>
                </c:pt>
                <c:pt idx="1">
                  <c:v>18.8</c:v>
                </c:pt>
              </c:numCache>
            </c:numRef>
          </c:val>
        </c:ser>
        <c:ser>
          <c:idx val="1"/>
          <c:order val="1"/>
          <c:tx>
            <c:strRef>
              <c:f>Sheet1!$C$1</c:f>
              <c:strCache>
                <c:ptCount val="1"/>
                <c:pt idx="0">
                  <c:v>Aqua</c:v>
                </c:pt>
              </c:strCache>
            </c:strRef>
          </c:tx>
          <c:spPr>
            <a:solidFill>
              <a:srgbClr val="5C6A86"/>
            </a:solidFill>
            <a:effectLst/>
          </c:spPr>
          <c:invertIfNegative val="0"/>
          <c:dLbls>
            <c:numFmt formatCode="0.0&quot;%&quot;" sourceLinked="0"/>
            <c:txPr>
              <a:bodyPr/>
              <a:lstStyle/>
              <a:p>
                <a:pPr>
                  <a:defRPr b="1" i="0" strike="noStrike" sz="1000" u="none">
                    <a:solidFill>
                      <a:srgbClr val="16203A"/>
                    </a:solidFill>
                    <a:latin typeface="Arial"/>
                  </a:defRPr>
                </a:pPr>
              </a:p>
            </c:txPr>
            <c:showLegendKey val="0"/>
            <c:showVal val="1"/>
            <c:showCatName val="0"/>
            <c:showSerName val="0"/>
            <c:showPercent val="0"/>
            <c:showBubbleSize val="0"/>
            <c:showLeaderLines val="0"/>
          </c:dLbls>
          <c:cat>
            <c:multiLvlStrRef>
              <c:f>Sheet1!$A$2:$A$3</c:f>
              <c:multiLvlStrCache>
                <c:ptCount val="2"/>
                <c:lvl>
                  <c:pt idx="0">
                    <c:v>2021</c:v>
                  </c:pt>
                  <c:pt idx="1">
                    <c:v>2024</c:v>
                  </c:pt>
                </c:lvl>
              </c:multiLvlStrCache>
            </c:multiLvlStrRef>
          </c:cat>
          <c:val>
            <c:numRef>
              <c:f>Sheet1!$C$2:$C$3</c:f>
              <c:numCache>
                <c:formatCode>General</c:formatCode>
                <c:ptCount val="2"/>
                <c:pt idx="0">
                  <c:v>62.5</c:v>
                </c:pt>
                <c:pt idx="1">
                  <c:v>46.9</c:v>
                </c:pt>
              </c:numCache>
            </c:numRef>
          </c:val>
        </c:ser>
        <c:dLbls>
          <c:numFmt formatCode="0.0&quot;%&quot;" sourceLinked="0"/>
          <c:txPr>
            <a:bodyPr/>
            <a:lstStyle/>
            <a:p>
              <a:pPr>
                <a:defRPr b="1" i="0" strike="noStrike" sz="1000" u="none">
                  <a:solidFill>
                    <a:srgbClr val="16203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A86"/>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5C6A86"/>
              </a:solidFill>
              <a:latin typeface="Calibri"/>
              <a:cs typeface="Calibri"/>
            </a:defRPr>
          </a:pPr>
          <a:endParaRPr lang="en-US"/>
        </a:p>
      </c:txPr>
    </c:legend>
    <c:plotVisOnly val="1"/>
    <c:dispBlanksAs val="span"/>
  </c:chart>
  <c:spPr>
    <a:solidFill>
      <a:srgbClr val="F2F8FD"/>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BFF"/>
        </a:solidFill>
      </p:bgPr>
    </p:bg>
    <p:spTree>
      <p:nvGrpSpPr>
        <p:cNvPr id="1" name=""/>
        <p:cNvGrpSpPr/>
        <p:nvPr/>
      </p:nvGrpSpPr>
      <p:grpSpPr>
        <a:xfrm>
          <a:off x="0" y="0"/>
          <a:ext cx="0" cy="0"/>
          <a:chOff x="0" y="0"/>
          <a:chExt cx="0" cy="0"/>
        </a:xfrm>
      </p:grpSpPr>
      <p:sp>
        <p:nvSpPr>
          <p:cNvPr id="2" name="Shape 0"/>
          <p:cNvSpPr/>
          <p:nvPr/>
        </p:nvSpPr>
        <p:spPr>
          <a:xfrm>
            <a:off x="7982712" y="-2651760"/>
            <a:ext cx="6035040" cy="6035040"/>
          </a:xfrm>
          <a:prstGeom prst="ellipse">
            <a:avLst/>
          </a:prstGeom>
          <a:solidFill>
            <a:srgbClr val="E4F1FB"/>
          </a:solidFill>
          <a:ln/>
        </p:spPr>
      </p:sp>
      <p:sp>
        <p:nvSpPr>
          <p:cNvPr id="3" name="Shape 1"/>
          <p:cNvSpPr/>
          <p:nvPr/>
        </p:nvSpPr>
        <p:spPr>
          <a:xfrm>
            <a:off x="9811512" y="4663440"/>
            <a:ext cx="4023360" cy="4023360"/>
          </a:xfrm>
          <a:prstGeom prst="ellipse">
            <a:avLst/>
          </a:prstGeom>
          <a:solidFill>
            <a:srgbClr val="EAF3FC"/>
          </a:solidFill>
          <a:ln/>
        </p:spPr>
      </p:sp>
      <p:pic>
        <p:nvPicPr>
          <p:cNvPr id="4"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5"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6" name="Text 2"/>
          <p:cNvSpPr/>
          <p:nvPr/>
        </p:nvSpPr>
        <p:spPr>
          <a:xfrm>
            <a:off x="640080" y="1481328"/>
            <a:ext cx="9601200" cy="365760"/>
          </a:xfrm>
          <a:prstGeom prst="rect">
            <a:avLst/>
          </a:prstGeom>
          <a:noFill/>
          <a:ln/>
        </p:spPr>
        <p:txBody>
          <a:bodyPr wrap="square" lIns="0" tIns="0" rIns="0" bIns="0" rtlCol="0" anchor="ctr"/>
          <a:lstStyle/>
          <a:p>
            <a:pPr indent="0" marL="0">
              <a:buNone/>
            </a:pPr>
            <a:r>
              <a:rPr lang="en-US" sz="1250" b="1" spc="300" kern="0" dirty="0">
                <a:solidFill>
                  <a:srgbClr val="2E86C8"/>
                </a:solidFill>
                <a:latin typeface="Calibri" pitchFamily="34" charset="0"/>
                <a:ea typeface="Calibri" pitchFamily="34" charset="-122"/>
                <a:cs typeface="Calibri" pitchFamily="34" charset="-120"/>
              </a:rPr>
              <a:t>SALES DECK · NARRATIVE EFFECTIVENESS INTELLIGENCE</a:t>
            </a:r>
            <a:endParaRPr lang="en-US" sz="1250" dirty="0"/>
          </a:p>
        </p:txBody>
      </p:sp>
      <p:sp>
        <p:nvSpPr>
          <p:cNvPr id="7" name="Text 3"/>
          <p:cNvSpPr/>
          <p:nvPr/>
        </p:nvSpPr>
        <p:spPr>
          <a:xfrm>
            <a:off x="640080" y="1920240"/>
            <a:ext cx="10515600" cy="1554480"/>
          </a:xfrm>
          <a:prstGeom prst="rect">
            <a:avLst/>
          </a:prstGeom>
          <a:noFill/>
          <a:ln/>
        </p:spPr>
        <p:txBody>
          <a:bodyPr wrap="square" lIns="0" tIns="0" rIns="0" bIns="0" rtlCol="0" anchor="ctr"/>
          <a:lstStyle/>
          <a:p>
            <a:pPr indent="0" marL="0">
              <a:lnSpc>
                <a:spcPct val="102000"/>
              </a:lnSpc>
              <a:buNone/>
            </a:pPr>
            <a:r>
              <a:rPr lang="en-US" sz="4100" b="1" dirty="0">
                <a:solidFill>
                  <a:srgbClr val="0E2A6B"/>
                </a:solidFill>
                <a:latin typeface="Cambria" pitchFamily="34" charset="0"/>
                <a:ea typeface="Cambria" pitchFamily="34" charset="-122"/>
                <a:cs typeface="Cambria" pitchFamily="34" charset="-120"/>
              </a:rPr>
              <a:t>Anda Menang Lebih Cepat</a:t>
            </a:r>
            <a:endParaRPr lang="en-US" sz="4100" dirty="0"/>
          </a:p>
          <a:p>
            <a:pPr indent="0" marL="0">
              <a:lnSpc>
                <a:spcPct val="102000"/>
              </a:lnSpc>
              <a:buNone/>
            </a:pPr>
            <a:r>
              <a:rPr lang="en-US" sz="4100" b="1" dirty="0">
                <a:solidFill>
                  <a:srgbClr val="0E2A6B"/>
                </a:solidFill>
                <a:latin typeface="Cambria" pitchFamily="34" charset="0"/>
                <a:ea typeface="Cambria" pitchFamily="34" charset="-122"/>
                <a:cs typeface="Cambria" pitchFamily="34" charset="-120"/>
              </a:rPr>
              <a:t>Dari Yang Bisa Anda Ukur</a:t>
            </a:r>
            <a:endParaRPr lang="en-US" sz="4100" dirty="0"/>
          </a:p>
        </p:txBody>
      </p:sp>
      <p:sp>
        <p:nvSpPr>
          <p:cNvPr id="8" name="Text 4"/>
          <p:cNvSpPr/>
          <p:nvPr/>
        </p:nvSpPr>
        <p:spPr>
          <a:xfrm>
            <a:off x="640080" y="3520440"/>
            <a:ext cx="8503920" cy="731520"/>
          </a:xfrm>
          <a:prstGeom prst="rect">
            <a:avLst/>
          </a:prstGeom>
          <a:noFill/>
          <a:ln/>
        </p:spPr>
        <p:txBody>
          <a:bodyPr wrap="square" lIns="0" tIns="0" rIns="0" bIns="0" rtlCol="0" anchor="ctr"/>
          <a:lstStyle/>
          <a:p>
            <a:pPr indent="0" marL="0">
              <a:lnSpc>
                <a:spcPct val="108000"/>
              </a:lnSpc>
              <a:buNone/>
            </a:pPr>
            <a:r>
              <a:rPr lang="en-US" sz="1450" i="1" dirty="0">
                <a:solidFill>
                  <a:srgbClr val="5C6A86"/>
                </a:solidFill>
                <a:latin typeface="Calibri" pitchFamily="34" charset="0"/>
                <a:ea typeface="Calibri" pitchFamily="34" charset="-122"/>
                <a:cs typeface="Calibri" pitchFamily="34" charset="-120"/>
              </a:rPr>
              <a:t>Dari lima narasi yang Anda jalankan, mana yang benar-benar menggerakkan preferensi, bukan sekadar paling ramai?</a:t>
            </a:r>
            <a:endParaRPr lang="en-US" sz="1450" dirty="0"/>
          </a:p>
        </p:txBody>
      </p:sp>
      <p:sp>
        <p:nvSpPr>
          <p:cNvPr id="9" name="Text 5"/>
          <p:cNvSpPr/>
          <p:nvPr/>
        </p:nvSpPr>
        <p:spPr>
          <a:xfrm>
            <a:off x="640080" y="4261104"/>
            <a:ext cx="8229600" cy="320040"/>
          </a:xfrm>
          <a:prstGeom prst="rect">
            <a:avLst/>
          </a:prstGeom>
          <a:noFill/>
          <a:ln/>
        </p:spPr>
        <p:txBody>
          <a:bodyPr wrap="square" lIns="0" tIns="0" rIns="0" bIns="0" rtlCol="0" anchor="ctr"/>
          <a:lstStyle/>
          <a:p>
            <a:pPr indent="0" marL="0">
              <a:buNone/>
            </a:pPr>
            <a:r>
              <a:rPr lang="en-US" sz="1200" dirty="0">
                <a:solidFill>
                  <a:srgbClr val="5C6A86"/>
                </a:solidFill>
                <a:latin typeface="Calibri" pitchFamily="34" charset="0"/>
                <a:ea typeface="Calibri" pitchFamily="34" charset="-122"/>
                <a:cs typeface="Calibri" pitchFamily="34" charset="-120"/>
              </a:rPr>
              <a:t>Le Minerale · Tim Marketing &amp; Digital · Juni 2026</a:t>
            </a:r>
            <a:endParaRPr lang="en-US" sz="1200" dirty="0"/>
          </a:p>
        </p:txBody>
      </p:sp>
      <p:sp>
        <p:nvSpPr>
          <p:cNvPr id="10" name="Shape 6"/>
          <p:cNvSpPr/>
          <p:nvPr/>
        </p:nvSpPr>
        <p:spPr>
          <a:xfrm>
            <a:off x="640080" y="4892040"/>
            <a:ext cx="3419856" cy="1234440"/>
          </a:xfrm>
          <a:prstGeom prst="roundRect">
            <a:avLst>
              <a:gd name="adj" fmla="val 7407"/>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1" name="Text 7"/>
          <p:cNvSpPr/>
          <p:nvPr/>
        </p:nvSpPr>
        <p:spPr>
          <a:xfrm>
            <a:off x="868680" y="5056632"/>
            <a:ext cx="2962656" cy="502920"/>
          </a:xfrm>
          <a:prstGeom prst="rect">
            <a:avLst/>
          </a:prstGeom>
          <a:noFill/>
          <a:ln/>
        </p:spPr>
        <p:txBody>
          <a:bodyPr wrap="square" lIns="0" tIns="0" rIns="0" bIns="0" rtlCol="0" anchor="ctr"/>
          <a:lstStyle/>
          <a:p>
            <a:pPr algn="l" indent="0" marL="0">
              <a:buNone/>
            </a:pPr>
            <a:r>
              <a:rPr lang="en-US" sz="2300" b="1" dirty="0">
                <a:solidFill>
                  <a:srgbClr val="2E86C8"/>
                </a:solidFill>
                <a:latin typeface="Cambria" pitchFamily="34" charset="0"/>
                <a:ea typeface="Cambria" pitchFamily="34" charset="-122"/>
                <a:cs typeface="Cambria" pitchFamily="34" charset="-120"/>
              </a:rPr>
              <a:t>4,6% → 18,8%</a:t>
            </a:r>
            <a:endParaRPr lang="en-US" sz="2300" dirty="0"/>
          </a:p>
        </p:txBody>
      </p:sp>
      <p:sp>
        <p:nvSpPr>
          <p:cNvPr id="12" name="Text 8"/>
          <p:cNvSpPr/>
          <p:nvPr/>
        </p:nvSpPr>
        <p:spPr>
          <a:xfrm>
            <a:off x="868680" y="5550408"/>
            <a:ext cx="2962656" cy="457200"/>
          </a:xfrm>
          <a:prstGeom prst="rect">
            <a:avLst/>
          </a:prstGeom>
          <a:noFill/>
          <a:ln/>
        </p:spPr>
        <p:txBody>
          <a:bodyPr wrap="square" lIns="0" tIns="0" rIns="0" bIns="0" rtlCol="0" anchor="t"/>
          <a:lstStyle/>
          <a:p>
            <a:pPr algn="l" indent="0" marL="0">
              <a:lnSpc>
                <a:spcPct val="100000"/>
              </a:lnSpc>
              <a:buNone/>
            </a:pPr>
            <a:r>
              <a:rPr lang="en-US" sz="1050" dirty="0">
                <a:solidFill>
                  <a:srgbClr val="5C6A86"/>
                </a:solidFill>
                <a:latin typeface="Calibri" pitchFamily="34" charset="0"/>
                <a:ea typeface="Calibri" pitchFamily="34" charset="-122"/>
                <a:cs typeface="Calibri" pitchFamily="34" charset="-120"/>
              </a:rPr>
              <a:t>Top Brand Index Le Minerale (2021–2024)</a:t>
            </a:r>
            <a:endParaRPr lang="en-US" sz="1050" dirty="0"/>
          </a:p>
        </p:txBody>
      </p:sp>
      <p:sp>
        <p:nvSpPr>
          <p:cNvPr id="13" name="Shape 9"/>
          <p:cNvSpPr/>
          <p:nvPr/>
        </p:nvSpPr>
        <p:spPr>
          <a:xfrm>
            <a:off x="4370832" y="4892040"/>
            <a:ext cx="3419856" cy="1234440"/>
          </a:xfrm>
          <a:prstGeom prst="roundRect">
            <a:avLst>
              <a:gd name="adj" fmla="val 7407"/>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4" name="Text 10"/>
          <p:cNvSpPr/>
          <p:nvPr/>
        </p:nvSpPr>
        <p:spPr>
          <a:xfrm>
            <a:off x="4599432" y="5056632"/>
            <a:ext cx="2962656" cy="502920"/>
          </a:xfrm>
          <a:prstGeom prst="rect">
            <a:avLst/>
          </a:prstGeom>
          <a:noFill/>
          <a:ln/>
        </p:spPr>
        <p:txBody>
          <a:bodyPr wrap="square" lIns="0" tIns="0" rIns="0" bIns="0" rtlCol="0" anchor="ctr"/>
          <a:lstStyle/>
          <a:p>
            <a:pPr algn="l" indent="0" marL="0">
              <a:buNone/>
            </a:pPr>
            <a:r>
              <a:rPr lang="en-US" sz="2300" b="1" dirty="0">
                <a:solidFill>
                  <a:srgbClr val="0E2A6B"/>
                </a:solidFill>
                <a:latin typeface="Cambria" pitchFamily="34" charset="0"/>
                <a:ea typeface="Cambria" pitchFamily="34" charset="-122"/>
                <a:cs typeface="Cambria" pitchFamily="34" charset="-120"/>
              </a:rPr>
              <a:t>62,5% → 46,9%</a:t>
            </a:r>
            <a:endParaRPr lang="en-US" sz="2300" dirty="0"/>
          </a:p>
        </p:txBody>
      </p:sp>
      <p:sp>
        <p:nvSpPr>
          <p:cNvPr id="15" name="Text 11"/>
          <p:cNvSpPr/>
          <p:nvPr/>
        </p:nvSpPr>
        <p:spPr>
          <a:xfrm>
            <a:off x="4599432" y="5550408"/>
            <a:ext cx="2962656" cy="457200"/>
          </a:xfrm>
          <a:prstGeom prst="rect">
            <a:avLst/>
          </a:prstGeom>
          <a:noFill/>
          <a:ln/>
        </p:spPr>
        <p:txBody>
          <a:bodyPr wrap="square" lIns="0" tIns="0" rIns="0" bIns="0" rtlCol="0" anchor="t"/>
          <a:lstStyle/>
          <a:p>
            <a:pPr algn="l" indent="0" marL="0">
              <a:lnSpc>
                <a:spcPct val="100000"/>
              </a:lnSpc>
              <a:buNone/>
            </a:pPr>
            <a:r>
              <a:rPr lang="en-US" sz="1050" dirty="0">
                <a:solidFill>
                  <a:srgbClr val="5C6A86"/>
                </a:solidFill>
                <a:latin typeface="Calibri" pitchFamily="34" charset="0"/>
                <a:ea typeface="Calibri" pitchFamily="34" charset="-122"/>
                <a:cs typeface="Calibri" pitchFamily="34" charset="-120"/>
              </a:rPr>
              <a:t>Pangsa Aqua melemah di periode yang sama</a:t>
            </a:r>
            <a:endParaRPr lang="en-US" sz="1050" dirty="0"/>
          </a:p>
        </p:txBody>
      </p:sp>
      <p:sp>
        <p:nvSpPr>
          <p:cNvPr id="16" name="Shape 12"/>
          <p:cNvSpPr/>
          <p:nvPr/>
        </p:nvSpPr>
        <p:spPr>
          <a:xfrm>
            <a:off x="8101584" y="4892040"/>
            <a:ext cx="3419856" cy="1234440"/>
          </a:xfrm>
          <a:prstGeom prst="roundRect">
            <a:avLst>
              <a:gd name="adj" fmla="val 7407"/>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7" name="Text 13"/>
          <p:cNvSpPr/>
          <p:nvPr/>
        </p:nvSpPr>
        <p:spPr>
          <a:xfrm>
            <a:off x="8330184" y="5056632"/>
            <a:ext cx="2962656" cy="502920"/>
          </a:xfrm>
          <a:prstGeom prst="rect">
            <a:avLst/>
          </a:prstGeom>
          <a:noFill/>
          <a:ln/>
        </p:spPr>
        <p:txBody>
          <a:bodyPr wrap="square" lIns="0" tIns="0" rIns="0" bIns="0" rtlCol="0" anchor="ctr"/>
          <a:lstStyle/>
          <a:p>
            <a:pPr algn="l" indent="0" marL="0">
              <a:buNone/>
            </a:pPr>
            <a:r>
              <a:rPr lang="en-US" sz="2300" b="1" dirty="0">
                <a:solidFill>
                  <a:srgbClr val="E1251B"/>
                </a:solidFill>
                <a:latin typeface="Cambria" pitchFamily="34" charset="0"/>
                <a:ea typeface="Cambria" pitchFamily="34" charset="-122"/>
                <a:cs typeface="Cambria" pitchFamily="34" charset="-120"/>
              </a:rPr>
              <a:t>Gold</a:t>
            </a:r>
            <a:endParaRPr lang="en-US" sz="2300" dirty="0"/>
          </a:p>
        </p:txBody>
      </p:sp>
      <p:sp>
        <p:nvSpPr>
          <p:cNvPr id="18" name="Text 14"/>
          <p:cNvSpPr/>
          <p:nvPr/>
        </p:nvSpPr>
        <p:spPr>
          <a:xfrm>
            <a:off x="8330184" y="5550408"/>
            <a:ext cx="2962656" cy="457200"/>
          </a:xfrm>
          <a:prstGeom prst="rect">
            <a:avLst/>
          </a:prstGeom>
          <a:noFill/>
          <a:ln/>
        </p:spPr>
        <p:txBody>
          <a:bodyPr wrap="square" lIns="0" tIns="0" rIns="0" bIns="0" rtlCol="0" anchor="t"/>
          <a:lstStyle/>
          <a:p>
            <a:pPr algn="l" indent="0" marL="0">
              <a:lnSpc>
                <a:spcPct val="100000"/>
              </a:lnSpc>
              <a:buNone/>
            </a:pPr>
            <a:r>
              <a:rPr lang="en-US" sz="1050" dirty="0">
                <a:solidFill>
                  <a:srgbClr val="5C6A86"/>
                </a:solidFill>
                <a:latin typeface="Calibri" pitchFamily="34" charset="0"/>
                <a:ea typeface="Calibri" pitchFamily="34" charset="-122"/>
                <a:cs typeface="Calibri" pitchFamily="34" charset="-120"/>
              </a:rPr>
              <a:t>Marketeers Youth Choice 2025, pilihan Gen Z</a:t>
            </a:r>
            <a:endParaRPr lang="en-US" sz="1050" dirty="0"/>
          </a:p>
        </p:txBody>
      </p:sp>
      <p:sp>
        <p:nvSpPr>
          <p:cNvPr id="19" name="Text 15"/>
          <p:cNvSpPr/>
          <p:nvPr/>
        </p:nvSpPr>
        <p:spPr>
          <a:xfrm>
            <a:off x="6976872" y="6400800"/>
            <a:ext cx="4572000" cy="274320"/>
          </a:xfrm>
          <a:prstGeom prst="rect">
            <a:avLst/>
          </a:prstGeom>
          <a:noFill/>
          <a:ln/>
        </p:spPr>
        <p:txBody>
          <a:bodyPr wrap="square" lIns="0" tIns="0" rIns="0" bIns="0" rtlCol="0" anchor="ctr"/>
          <a:lstStyle/>
          <a:p>
            <a:pPr algn="r" indent="0" marL="0">
              <a:buNone/>
            </a:pPr>
            <a:r>
              <a:rPr lang="en-US" sz="850" dirty="0">
                <a:solidFill>
                  <a:srgbClr val="9AA9C2"/>
                </a:solidFill>
                <a:latin typeface="Calibri" pitchFamily="34" charset="0"/>
                <a:ea typeface="Calibri" pitchFamily="34" charset="-122"/>
                <a:cs typeface="Calibri" pitchFamily="34" charset="-120"/>
              </a:rPr>
              <a:t>DRAFT · SIMULATION ONLY · NOT CLIENT CONFIRMED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8FD"/>
        </a:solidFill>
      </p:bgPr>
    </p:bg>
    <p:spTree>
      <p:nvGrpSpPr>
        <p:cNvPr id="1" name=""/>
        <p:cNvGrpSpPr/>
        <p:nvPr/>
      </p:nvGrpSpPr>
      <p:grpSpPr>
        <a:xfrm>
          <a:off x="0" y="0"/>
          <a:ext cx="0" cy="0"/>
          <a:chOff x="0" y="0"/>
          <a:chExt cx="0" cy="0"/>
        </a:xfrm>
      </p:grpSpPr>
      <p:pic>
        <p:nvPicPr>
          <p:cNvPr id="2"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3"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4" name="Text 0"/>
          <p:cNvSpPr/>
          <p:nvPr/>
        </p:nvSpPr>
        <p:spPr>
          <a:xfrm>
            <a:off x="640080" y="932688"/>
            <a:ext cx="6400800" cy="310896"/>
          </a:xfrm>
          <a:prstGeom prst="rect">
            <a:avLst/>
          </a:prstGeom>
          <a:noFill/>
          <a:ln/>
        </p:spPr>
        <p:txBody>
          <a:bodyPr wrap="square" lIns="0" tIns="0" rIns="0" bIns="0" rtlCol="0" anchor="ctr"/>
          <a:lstStyle/>
          <a:p>
            <a:pPr algn="l" indent="0" marL="0">
              <a:buNone/>
            </a:pPr>
            <a:r>
              <a:rPr lang="en-US" sz="1250" b="1" spc="300" kern="0" dirty="0">
                <a:solidFill>
                  <a:srgbClr val="E1251B"/>
                </a:solidFill>
                <a:latin typeface="Calibri" pitchFamily="34" charset="0"/>
                <a:ea typeface="Calibri" pitchFamily="34" charset="-122"/>
                <a:cs typeface="Calibri" pitchFamily="34" charset="-120"/>
              </a:rPr>
              <a:t>MASALAH</a:t>
            </a:r>
            <a:endParaRPr lang="en-US" sz="1250" dirty="0"/>
          </a:p>
        </p:txBody>
      </p:sp>
      <p:sp>
        <p:nvSpPr>
          <p:cNvPr id="5" name="Text 1"/>
          <p:cNvSpPr/>
          <p:nvPr/>
        </p:nvSpPr>
        <p:spPr>
          <a:xfrm>
            <a:off x="640080" y="1298448"/>
            <a:ext cx="10908792" cy="1024128"/>
          </a:xfrm>
          <a:prstGeom prst="rect">
            <a:avLst/>
          </a:prstGeom>
          <a:noFill/>
          <a:ln/>
        </p:spPr>
        <p:txBody>
          <a:bodyPr wrap="square" lIns="0" tIns="0" rIns="0" bIns="0" rtlCol="0" anchor="t"/>
          <a:lstStyle/>
          <a:p>
            <a:pPr algn="l" indent="0" marL="0">
              <a:lnSpc>
                <a:spcPct val="100000"/>
              </a:lnSpc>
              <a:buNone/>
            </a:pPr>
            <a:r>
              <a:rPr lang="en-US" sz="2350" b="1" dirty="0">
                <a:solidFill>
                  <a:srgbClr val="0E2A6B"/>
                </a:solidFill>
                <a:latin typeface="Cambria" pitchFamily="34" charset="0"/>
                <a:ea typeface="Cambria" pitchFamily="34" charset="-122"/>
                <a:cs typeface="Cambria" pitchFamily="34" charset="-120"/>
              </a:rPr>
              <a:t>Lima Narasi Berjalan Serentak, Tapi Narasi Pemenang Masih Ditebak</a:t>
            </a:r>
            <a:endParaRPr lang="en-US" sz="2350" dirty="0"/>
          </a:p>
        </p:txBody>
      </p:sp>
      <p:sp>
        <p:nvSpPr>
          <p:cNvPr id="6" name="Text 2"/>
          <p:cNvSpPr/>
          <p:nvPr/>
        </p:nvSpPr>
        <p:spPr>
          <a:xfrm>
            <a:off x="640080" y="2331720"/>
            <a:ext cx="10908792" cy="640080"/>
          </a:xfrm>
          <a:prstGeom prst="rect">
            <a:avLst/>
          </a:prstGeom>
          <a:noFill/>
          <a:ln/>
        </p:spPr>
        <p:txBody>
          <a:bodyPr wrap="square" lIns="0" tIns="0" rIns="0" bIns="0" rtlCol="0" anchor="t"/>
          <a:lstStyle/>
          <a:p>
            <a:pPr algn="l" indent="0" marL="0">
              <a:lnSpc>
                <a:spcPct val="105000"/>
              </a:lnSpc>
              <a:buNone/>
            </a:pPr>
            <a:r>
              <a:rPr lang="en-US" sz="1350" dirty="0">
                <a:solidFill>
                  <a:srgbClr val="5C6A86"/>
                </a:solidFill>
                <a:latin typeface="Calibri" pitchFamily="34" charset="0"/>
                <a:ea typeface="Calibri" pitchFamily="34" charset="-122"/>
                <a:cs typeface="Calibri" pitchFamily="34" charset="-120"/>
              </a:rPr>
              <a:t>Narasi yang paling ramai belum tentu yang menggerakkan preferensi. Tanpa ukuran efektivitas per narasi, 'ramai' mudah keliru dibaca sebagai 'menang'.</a:t>
            </a:r>
            <a:endParaRPr lang="en-US" sz="1350" dirty="0"/>
          </a:p>
        </p:txBody>
      </p:sp>
      <p:sp>
        <p:nvSpPr>
          <p:cNvPr id="7" name="Shape 3"/>
          <p:cNvSpPr/>
          <p:nvPr/>
        </p:nvSpPr>
        <p:spPr>
          <a:xfrm>
            <a:off x="640080" y="2880360"/>
            <a:ext cx="2075688" cy="2103120"/>
          </a:xfrm>
          <a:prstGeom prst="roundRect">
            <a:avLst>
              <a:gd name="adj" fmla="val 396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8" name="Shape 4"/>
          <p:cNvSpPr/>
          <p:nvPr/>
        </p:nvSpPr>
        <p:spPr>
          <a:xfrm>
            <a:off x="877824" y="3136392"/>
            <a:ext cx="457200" cy="457200"/>
          </a:xfrm>
          <a:prstGeom prst="roundRect">
            <a:avLst>
              <a:gd name="adj" fmla="val 16000"/>
            </a:avLst>
          </a:prstGeom>
          <a:solidFill>
            <a:srgbClr val="0E2A6B"/>
          </a:solidFill>
          <a:ln/>
          <a:effectLst>
            <a:outerShdw sx="100000" sy="100000" kx="0" ky="0" algn="bl" rotWithShape="0" blurRad="88900" dist="25400" dir="5400000">
              <a:srgbClr val="000000">
                <a:alpha val="10000"/>
              </a:srgbClr>
            </a:outerShdw>
          </a:effectLst>
        </p:spPr>
      </p:sp>
      <p:pic>
        <p:nvPicPr>
          <p:cNvPr id="9" name="Image 2" descr="preencoded.png">    </p:cNvPr>
          <p:cNvPicPr>
            <a:picLocks noChangeAspect="1"/>
          </p:cNvPicPr>
          <p:nvPr/>
        </p:nvPicPr>
        <p:blipFill>
          <a:blip r:embed="rId3"/>
          <a:stretch>
            <a:fillRect/>
          </a:stretch>
        </p:blipFill>
        <p:spPr>
          <a:xfrm>
            <a:off x="932688" y="3191256"/>
            <a:ext cx="347472" cy="347472"/>
          </a:xfrm>
          <a:prstGeom prst="rect">
            <a:avLst/>
          </a:prstGeom>
        </p:spPr>
      </p:pic>
      <p:sp>
        <p:nvSpPr>
          <p:cNvPr id="10" name="Text 5"/>
          <p:cNvSpPr/>
          <p:nvPr/>
        </p:nvSpPr>
        <p:spPr>
          <a:xfrm>
            <a:off x="2039112" y="3063240"/>
            <a:ext cx="457200" cy="457200"/>
          </a:xfrm>
          <a:prstGeom prst="rect">
            <a:avLst/>
          </a:prstGeom>
          <a:noFill/>
          <a:ln/>
        </p:spPr>
        <p:txBody>
          <a:bodyPr wrap="square" lIns="0" tIns="0" rIns="0" bIns="0" rtlCol="0" anchor="t"/>
          <a:lstStyle/>
          <a:p>
            <a:pPr algn="r" indent="0" marL="0">
              <a:buNone/>
            </a:pPr>
            <a:r>
              <a:rPr lang="en-US" sz="2400" b="1" dirty="0">
                <a:solidFill>
                  <a:srgbClr val="FBE7E5"/>
                </a:solidFill>
                <a:latin typeface="Cambria" pitchFamily="34" charset="0"/>
                <a:ea typeface="Cambria" pitchFamily="34" charset="-122"/>
                <a:cs typeface="Cambria" pitchFamily="34" charset="-120"/>
              </a:rPr>
              <a:t>?</a:t>
            </a:r>
            <a:endParaRPr lang="en-US" sz="2400" dirty="0"/>
          </a:p>
        </p:txBody>
      </p:sp>
      <p:sp>
        <p:nvSpPr>
          <p:cNvPr id="11" name="Text 6"/>
          <p:cNvSpPr/>
          <p:nvPr/>
        </p:nvSpPr>
        <p:spPr>
          <a:xfrm>
            <a:off x="877824" y="3749040"/>
            <a:ext cx="1618488" cy="365760"/>
          </a:xfrm>
          <a:prstGeom prst="rect">
            <a:avLst/>
          </a:prstGeom>
          <a:noFill/>
          <a:ln/>
        </p:spPr>
        <p:txBody>
          <a:bodyPr wrap="square" lIns="0" tIns="0" rIns="0" bIns="0" rtlCol="0" anchor="ctr"/>
          <a:lstStyle/>
          <a:p>
            <a:pPr indent="0" marL="0">
              <a:buNone/>
            </a:pPr>
            <a:r>
              <a:rPr lang="en-US" sz="1350" b="1" dirty="0">
                <a:solidFill>
                  <a:srgbClr val="16203A"/>
                </a:solidFill>
                <a:latin typeface="Calibri" pitchFamily="34" charset="0"/>
                <a:ea typeface="Calibri" pitchFamily="34" charset="-122"/>
                <a:cs typeface="Calibri" pitchFamily="34" charset="-120"/>
              </a:rPr>
              <a:t>Mineral Alami</a:t>
            </a:r>
            <a:endParaRPr lang="en-US" sz="1350" dirty="0"/>
          </a:p>
        </p:txBody>
      </p:sp>
      <p:sp>
        <p:nvSpPr>
          <p:cNvPr id="12" name="Text 7"/>
          <p:cNvSpPr/>
          <p:nvPr/>
        </p:nvSpPr>
        <p:spPr>
          <a:xfrm>
            <a:off x="877824" y="4087368"/>
            <a:ext cx="1618488" cy="822960"/>
          </a:xfrm>
          <a:prstGeom prst="rect">
            <a:avLst/>
          </a:prstGeom>
          <a:noFill/>
          <a:ln/>
        </p:spPr>
        <p:txBody>
          <a:bodyPr wrap="square" lIns="0" tIns="0" rIns="0" bIns="0" rtlCol="0" anchor="ctr"/>
          <a:lstStyle/>
          <a:p>
            <a:pPr indent="0" marL="0">
              <a:lnSpc>
                <a:spcPct val="103000"/>
              </a:lnSpc>
              <a:buNone/>
            </a:pPr>
            <a:r>
              <a:rPr lang="en-US" sz="1050" dirty="0">
                <a:solidFill>
                  <a:srgbClr val="5C6A86"/>
                </a:solidFill>
                <a:latin typeface="Calibri" pitchFamily="34" charset="0"/>
                <a:ea typeface="Calibri" pitchFamily="34" charset="-122"/>
                <a:cs typeface="Calibri" pitchFamily="34" charset="-120"/>
              </a:rPr>
              <a:t>“Kaya ada manis-manisnya”, diferensiasi rasa dan kandungan</a:t>
            </a:r>
            <a:endParaRPr lang="en-US" sz="1050" dirty="0"/>
          </a:p>
        </p:txBody>
      </p:sp>
      <p:sp>
        <p:nvSpPr>
          <p:cNvPr id="13" name="Shape 8"/>
          <p:cNvSpPr/>
          <p:nvPr/>
        </p:nvSpPr>
        <p:spPr>
          <a:xfrm>
            <a:off x="2862072" y="2880360"/>
            <a:ext cx="2075688" cy="2103120"/>
          </a:xfrm>
          <a:prstGeom prst="roundRect">
            <a:avLst>
              <a:gd name="adj" fmla="val 396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4" name="Shape 9"/>
          <p:cNvSpPr/>
          <p:nvPr/>
        </p:nvSpPr>
        <p:spPr>
          <a:xfrm>
            <a:off x="3099816" y="3136392"/>
            <a:ext cx="457200" cy="457200"/>
          </a:xfrm>
          <a:prstGeom prst="roundRect">
            <a:avLst>
              <a:gd name="adj" fmla="val 16000"/>
            </a:avLst>
          </a:prstGeom>
          <a:solidFill>
            <a:srgbClr val="0E2A6B"/>
          </a:solidFill>
          <a:ln/>
          <a:effectLst>
            <a:outerShdw sx="100000" sy="100000" kx="0" ky="0" algn="bl" rotWithShape="0" blurRad="88900" dist="25400" dir="5400000">
              <a:srgbClr val="000000">
                <a:alpha val="10000"/>
              </a:srgbClr>
            </a:outerShdw>
          </a:effectLst>
        </p:spPr>
      </p:sp>
      <p:pic>
        <p:nvPicPr>
          <p:cNvPr id="15" name="Image 3" descr="preencoded.png">    </p:cNvPr>
          <p:cNvPicPr>
            <a:picLocks noChangeAspect="1"/>
          </p:cNvPicPr>
          <p:nvPr/>
        </p:nvPicPr>
        <p:blipFill>
          <a:blip r:embed="rId4"/>
          <a:stretch>
            <a:fillRect/>
          </a:stretch>
        </p:blipFill>
        <p:spPr>
          <a:xfrm>
            <a:off x="3154680" y="3191256"/>
            <a:ext cx="347472" cy="347472"/>
          </a:xfrm>
          <a:prstGeom prst="rect">
            <a:avLst/>
          </a:prstGeom>
        </p:spPr>
      </p:pic>
      <p:sp>
        <p:nvSpPr>
          <p:cNvPr id="16" name="Text 10"/>
          <p:cNvSpPr/>
          <p:nvPr/>
        </p:nvSpPr>
        <p:spPr>
          <a:xfrm>
            <a:off x="4261104" y="3063240"/>
            <a:ext cx="457200" cy="457200"/>
          </a:xfrm>
          <a:prstGeom prst="rect">
            <a:avLst/>
          </a:prstGeom>
          <a:noFill/>
          <a:ln/>
        </p:spPr>
        <p:txBody>
          <a:bodyPr wrap="square" lIns="0" tIns="0" rIns="0" bIns="0" rtlCol="0" anchor="t"/>
          <a:lstStyle/>
          <a:p>
            <a:pPr algn="r" indent="0" marL="0">
              <a:buNone/>
            </a:pPr>
            <a:r>
              <a:rPr lang="en-US" sz="2400" b="1" dirty="0">
                <a:solidFill>
                  <a:srgbClr val="FBE7E5"/>
                </a:solidFill>
                <a:latin typeface="Cambria" pitchFamily="34" charset="0"/>
                <a:ea typeface="Cambria" pitchFamily="34" charset="-122"/>
                <a:cs typeface="Cambria" pitchFamily="34" charset="-120"/>
              </a:rPr>
              <a:t>?</a:t>
            </a:r>
            <a:endParaRPr lang="en-US" sz="2400" dirty="0"/>
          </a:p>
        </p:txBody>
      </p:sp>
      <p:sp>
        <p:nvSpPr>
          <p:cNvPr id="17" name="Text 11"/>
          <p:cNvSpPr/>
          <p:nvPr/>
        </p:nvSpPr>
        <p:spPr>
          <a:xfrm>
            <a:off x="3099816" y="3749040"/>
            <a:ext cx="1618488" cy="365760"/>
          </a:xfrm>
          <a:prstGeom prst="rect">
            <a:avLst/>
          </a:prstGeom>
          <a:noFill/>
          <a:ln/>
        </p:spPr>
        <p:txBody>
          <a:bodyPr wrap="square" lIns="0" tIns="0" rIns="0" bIns="0" rtlCol="0" anchor="ctr"/>
          <a:lstStyle/>
          <a:p>
            <a:pPr indent="0" marL="0">
              <a:buNone/>
            </a:pPr>
            <a:r>
              <a:rPr lang="en-US" sz="1350" b="1" dirty="0">
                <a:solidFill>
                  <a:srgbClr val="16203A"/>
                </a:solidFill>
                <a:latin typeface="Calibri" pitchFamily="34" charset="0"/>
                <a:ea typeface="Calibri" pitchFamily="34" charset="-122"/>
                <a:cs typeface="Calibri" pitchFamily="34" charset="-120"/>
              </a:rPr>
              <a:t>BPA Free</a:t>
            </a:r>
            <a:endParaRPr lang="en-US" sz="1350" dirty="0"/>
          </a:p>
        </p:txBody>
      </p:sp>
      <p:sp>
        <p:nvSpPr>
          <p:cNvPr id="18" name="Text 12"/>
          <p:cNvSpPr/>
          <p:nvPr/>
        </p:nvSpPr>
        <p:spPr>
          <a:xfrm>
            <a:off x="3099816" y="4087368"/>
            <a:ext cx="1618488" cy="822960"/>
          </a:xfrm>
          <a:prstGeom prst="rect">
            <a:avLst/>
          </a:prstGeom>
          <a:noFill/>
          <a:ln/>
        </p:spPr>
        <p:txBody>
          <a:bodyPr wrap="square" lIns="0" tIns="0" rIns="0" bIns="0" rtlCol="0" anchor="ctr"/>
          <a:lstStyle/>
          <a:p>
            <a:pPr indent="0" marL="0">
              <a:lnSpc>
                <a:spcPct val="103000"/>
              </a:lnSpc>
              <a:buNone/>
            </a:pPr>
            <a:r>
              <a:rPr lang="en-US" sz="1050" dirty="0">
                <a:solidFill>
                  <a:srgbClr val="5C6A86"/>
                </a:solidFill>
                <a:latin typeface="Calibri" pitchFamily="34" charset="0"/>
                <a:ea typeface="Calibri" pitchFamily="34" charset="-122"/>
                <a:cs typeface="Calibri" pitchFamily="34" charset="-120"/>
              </a:rPr>
              <a:t>Galon PET vs polikarbonat: paling membedakan, paling sensitif</a:t>
            </a:r>
            <a:endParaRPr lang="en-US" sz="1050" dirty="0"/>
          </a:p>
        </p:txBody>
      </p:sp>
      <p:sp>
        <p:nvSpPr>
          <p:cNvPr id="19" name="Shape 13"/>
          <p:cNvSpPr/>
          <p:nvPr/>
        </p:nvSpPr>
        <p:spPr>
          <a:xfrm>
            <a:off x="5084064" y="2880360"/>
            <a:ext cx="2075688" cy="2103120"/>
          </a:xfrm>
          <a:prstGeom prst="roundRect">
            <a:avLst>
              <a:gd name="adj" fmla="val 396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20" name="Shape 14"/>
          <p:cNvSpPr/>
          <p:nvPr/>
        </p:nvSpPr>
        <p:spPr>
          <a:xfrm>
            <a:off x="5321808" y="3136392"/>
            <a:ext cx="457200" cy="457200"/>
          </a:xfrm>
          <a:prstGeom prst="roundRect">
            <a:avLst>
              <a:gd name="adj" fmla="val 16000"/>
            </a:avLst>
          </a:prstGeom>
          <a:solidFill>
            <a:srgbClr val="0E2A6B"/>
          </a:solidFill>
          <a:ln/>
          <a:effectLst>
            <a:outerShdw sx="100000" sy="100000" kx="0" ky="0" algn="bl" rotWithShape="0" blurRad="88900" dist="25400" dir="5400000">
              <a:srgbClr val="000000">
                <a:alpha val="10000"/>
              </a:srgbClr>
            </a:outerShdw>
          </a:effectLst>
        </p:spPr>
      </p:sp>
      <p:pic>
        <p:nvPicPr>
          <p:cNvPr id="21" name="Image 4" descr="preencoded.png">    </p:cNvPr>
          <p:cNvPicPr>
            <a:picLocks noChangeAspect="1"/>
          </p:cNvPicPr>
          <p:nvPr/>
        </p:nvPicPr>
        <p:blipFill>
          <a:blip r:embed="rId5"/>
          <a:stretch>
            <a:fillRect/>
          </a:stretch>
        </p:blipFill>
        <p:spPr>
          <a:xfrm>
            <a:off x="5376672" y="3191256"/>
            <a:ext cx="347472" cy="347472"/>
          </a:xfrm>
          <a:prstGeom prst="rect">
            <a:avLst/>
          </a:prstGeom>
        </p:spPr>
      </p:pic>
      <p:sp>
        <p:nvSpPr>
          <p:cNvPr id="22" name="Text 15"/>
          <p:cNvSpPr/>
          <p:nvPr/>
        </p:nvSpPr>
        <p:spPr>
          <a:xfrm>
            <a:off x="6483096" y="3063240"/>
            <a:ext cx="457200" cy="457200"/>
          </a:xfrm>
          <a:prstGeom prst="rect">
            <a:avLst/>
          </a:prstGeom>
          <a:noFill/>
          <a:ln/>
        </p:spPr>
        <p:txBody>
          <a:bodyPr wrap="square" lIns="0" tIns="0" rIns="0" bIns="0" rtlCol="0" anchor="t"/>
          <a:lstStyle/>
          <a:p>
            <a:pPr algn="r" indent="0" marL="0">
              <a:buNone/>
            </a:pPr>
            <a:r>
              <a:rPr lang="en-US" sz="2400" b="1" dirty="0">
                <a:solidFill>
                  <a:srgbClr val="FBE7E5"/>
                </a:solidFill>
                <a:latin typeface="Cambria" pitchFamily="34" charset="0"/>
                <a:ea typeface="Cambria" pitchFamily="34" charset="-122"/>
                <a:cs typeface="Cambria" pitchFamily="34" charset="-120"/>
              </a:rPr>
              <a:t>?</a:t>
            </a:r>
            <a:endParaRPr lang="en-US" sz="2400" dirty="0"/>
          </a:p>
        </p:txBody>
      </p:sp>
      <p:sp>
        <p:nvSpPr>
          <p:cNvPr id="23" name="Text 16"/>
          <p:cNvSpPr/>
          <p:nvPr/>
        </p:nvSpPr>
        <p:spPr>
          <a:xfrm>
            <a:off x="5321808" y="3749040"/>
            <a:ext cx="1618488" cy="365760"/>
          </a:xfrm>
          <a:prstGeom prst="rect">
            <a:avLst/>
          </a:prstGeom>
          <a:noFill/>
          <a:ln/>
        </p:spPr>
        <p:txBody>
          <a:bodyPr wrap="square" lIns="0" tIns="0" rIns="0" bIns="0" rtlCol="0" anchor="ctr"/>
          <a:lstStyle/>
          <a:p>
            <a:pPr indent="0" marL="0">
              <a:buNone/>
            </a:pPr>
            <a:r>
              <a:rPr lang="en-US" sz="1350" b="1" dirty="0">
                <a:solidFill>
                  <a:srgbClr val="16203A"/>
                </a:solidFill>
                <a:latin typeface="Calibri" pitchFamily="34" charset="0"/>
                <a:ea typeface="Calibri" pitchFamily="34" charset="-122"/>
                <a:cs typeface="Calibri" pitchFamily="34" charset="-120"/>
              </a:rPr>
              <a:t>Active Lifestyle</a:t>
            </a:r>
            <a:endParaRPr lang="en-US" sz="1350" dirty="0"/>
          </a:p>
        </p:txBody>
      </p:sp>
      <p:sp>
        <p:nvSpPr>
          <p:cNvPr id="24" name="Text 17"/>
          <p:cNvSpPr/>
          <p:nvPr/>
        </p:nvSpPr>
        <p:spPr>
          <a:xfrm>
            <a:off x="5321808" y="4087368"/>
            <a:ext cx="1618488" cy="822960"/>
          </a:xfrm>
          <a:prstGeom prst="rect">
            <a:avLst/>
          </a:prstGeom>
          <a:noFill/>
          <a:ln/>
        </p:spPr>
        <p:txBody>
          <a:bodyPr wrap="square" lIns="0" tIns="0" rIns="0" bIns="0" rtlCol="0" anchor="ctr"/>
          <a:lstStyle/>
          <a:p>
            <a:pPr indent="0" marL="0">
              <a:lnSpc>
                <a:spcPct val="103000"/>
              </a:lnSpc>
              <a:buNone/>
            </a:pPr>
            <a:r>
              <a:rPr lang="en-US" sz="1050" dirty="0">
                <a:solidFill>
                  <a:srgbClr val="5C6A86"/>
                </a:solidFill>
                <a:latin typeface="Calibri" pitchFamily="34" charset="0"/>
                <a:ea typeface="Calibri" pitchFamily="34" charset="-122"/>
                <a:cs typeface="Calibri" pitchFamily="34" charset="-120"/>
              </a:rPr>
              <a:t>JRF &amp; JAKIM, Running Squad, endorsement atlet</a:t>
            </a:r>
            <a:endParaRPr lang="en-US" sz="1050" dirty="0"/>
          </a:p>
        </p:txBody>
      </p:sp>
      <p:sp>
        <p:nvSpPr>
          <p:cNvPr id="25" name="Shape 18"/>
          <p:cNvSpPr/>
          <p:nvPr/>
        </p:nvSpPr>
        <p:spPr>
          <a:xfrm>
            <a:off x="7306056" y="2880360"/>
            <a:ext cx="2075688" cy="2103120"/>
          </a:xfrm>
          <a:prstGeom prst="roundRect">
            <a:avLst>
              <a:gd name="adj" fmla="val 396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26" name="Shape 19"/>
          <p:cNvSpPr/>
          <p:nvPr/>
        </p:nvSpPr>
        <p:spPr>
          <a:xfrm>
            <a:off x="7543800" y="3136392"/>
            <a:ext cx="457200" cy="457200"/>
          </a:xfrm>
          <a:prstGeom prst="roundRect">
            <a:avLst>
              <a:gd name="adj" fmla="val 16000"/>
            </a:avLst>
          </a:prstGeom>
          <a:solidFill>
            <a:srgbClr val="0E2A6B"/>
          </a:solidFill>
          <a:ln/>
          <a:effectLst>
            <a:outerShdw sx="100000" sy="100000" kx="0" ky="0" algn="bl" rotWithShape="0" blurRad="88900" dist="25400" dir="5400000">
              <a:srgbClr val="000000">
                <a:alpha val="10000"/>
              </a:srgbClr>
            </a:outerShdw>
          </a:effectLst>
        </p:spPr>
      </p:sp>
      <p:pic>
        <p:nvPicPr>
          <p:cNvPr id="27" name="Image 5" descr="preencoded.png">    </p:cNvPr>
          <p:cNvPicPr>
            <a:picLocks noChangeAspect="1"/>
          </p:cNvPicPr>
          <p:nvPr/>
        </p:nvPicPr>
        <p:blipFill>
          <a:blip r:embed="rId6"/>
          <a:stretch>
            <a:fillRect/>
          </a:stretch>
        </p:blipFill>
        <p:spPr>
          <a:xfrm>
            <a:off x="7598664" y="3191256"/>
            <a:ext cx="347472" cy="347472"/>
          </a:xfrm>
          <a:prstGeom prst="rect">
            <a:avLst/>
          </a:prstGeom>
        </p:spPr>
      </p:pic>
      <p:sp>
        <p:nvSpPr>
          <p:cNvPr id="28" name="Text 20"/>
          <p:cNvSpPr/>
          <p:nvPr/>
        </p:nvSpPr>
        <p:spPr>
          <a:xfrm>
            <a:off x="8705088" y="3063240"/>
            <a:ext cx="457200" cy="457200"/>
          </a:xfrm>
          <a:prstGeom prst="rect">
            <a:avLst/>
          </a:prstGeom>
          <a:noFill/>
          <a:ln/>
        </p:spPr>
        <p:txBody>
          <a:bodyPr wrap="square" lIns="0" tIns="0" rIns="0" bIns="0" rtlCol="0" anchor="t"/>
          <a:lstStyle/>
          <a:p>
            <a:pPr algn="r" indent="0" marL="0">
              <a:buNone/>
            </a:pPr>
            <a:r>
              <a:rPr lang="en-US" sz="2400" b="1" dirty="0">
                <a:solidFill>
                  <a:srgbClr val="FBE7E5"/>
                </a:solidFill>
                <a:latin typeface="Cambria" pitchFamily="34" charset="0"/>
                <a:ea typeface="Cambria" pitchFamily="34" charset="-122"/>
                <a:cs typeface="Cambria" pitchFamily="34" charset="-120"/>
              </a:rPr>
              <a:t>?</a:t>
            </a:r>
            <a:endParaRPr lang="en-US" sz="2400" dirty="0"/>
          </a:p>
        </p:txBody>
      </p:sp>
      <p:sp>
        <p:nvSpPr>
          <p:cNvPr id="29" name="Text 21"/>
          <p:cNvSpPr/>
          <p:nvPr/>
        </p:nvSpPr>
        <p:spPr>
          <a:xfrm>
            <a:off x="7543800" y="3749040"/>
            <a:ext cx="1618488" cy="365760"/>
          </a:xfrm>
          <a:prstGeom prst="rect">
            <a:avLst/>
          </a:prstGeom>
          <a:noFill/>
          <a:ln/>
        </p:spPr>
        <p:txBody>
          <a:bodyPr wrap="square" lIns="0" tIns="0" rIns="0" bIns="0" rtlCol="0" anchor="ctr"/>
          <a:lstStyle/>
          <a:p>
            <a:pPr indent="0" marL="0">
              <a:buNone/>
            </a:pPr>
            <a:r>
              <a:rPr lang="en-US" sz="1350" b="1" dirty="0">
                <a:solidFill>
                  <a:srgbClr val="16203A"/>
                </a:solidFill>
                <a:latin typeface="Calibri" pitchFamily="34" charset="0"/>
                <a:ea typeface="Calibri" pitchFamily="34" charset="-122"/>
                <a:cs typeface="Calibri" pitchFamily="34" charset="-120"/>
              </a:rPr>
              <a:t>Keluarga Sehat</a:t>
            </a:r>
            <a:endParaRPr lang="en-US" sz="1350" dirty="0"/>
          </a:p>
        </p:txBody>
      </p:sp>
      <p:sp>
        <p:nvSpPr>
          <p:cNvPr id="30" name="Text 22"/>
          <p:cNvSpPr/>
          <p:nvPr/>
        </p:nvSpPr>
        <p:spPr>
          <a:xfrm>
            <a:off x="7543800" y="4087368"/>
            <a:ext cx="1618488" cy="822960"/>
          </a:xfrm>
          <a:prstGeom prst="rect">
            <a:avLst/>
          </a:prstGeom>
          <a:noFill/>
          <a:ln/>
        </p:spPr>
        <p:txBody>
          <a:bodyPr wrap="square" lIns="0" tIns="0" rIns="0" bIns="0" rtlCol="0" anchor="ctr"/>
          <a:lstStyle/>
          <a:p>
            <a:pPr indent="0" marL="0">
              <a:lnSpc>
                <a:spcPct val="103000"/>
              </a:lnSpc>
              <a:buNone/>
            </a:pPr>
            <a:r>
              <a:rPr lang="en-US" sz="1050" dirty="0">
                <a:solidFill>
                  <a:srgbClr val="5C6A86"/>
                </a:solidFill>
                <a:latin typeface="Calibri" pitchFamily="34" charset="0"/>
                <a:ea typeface="Calibri" pitchFamily="34" charset="-122"/>
                <a:cs typeface="Calibri" pitchFamily="34" charset="-120"/>
              </a:rPr>
              <a:t>Positioning sehat untuk konsumsi harian keluarga</a:t>
            </a:r>
            <a:endParaRPr lang="en-US" sz="1050" dirty="0"/>
          </a:p>
        </p:txBody>
      </p:sp>
      <p:sp>
        <p:nvSpPr>
          <p:cNvPr id="31" name="Shape 23"/>
          <p:cNvSpPr/>
          <p:nvPr/>
        </p:nvSpPr>
        <p:spPr>
          <a:xfrm>
            <a:off x="9528048" y="2880360"/>
            <a:ext cx="2075688" cy="2103120"/>
          </a:xfrm>
          <a:prstGeom prst="roundRect">
            <a:avLst>
              <a:gd name="adj" fmla="val 396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32" name="Shape 24"/>
          <p:cNvSpPr/>
          <p:nvPr/>
        </p:nvSpPr>
        <p:spPr>
          <a:xfrm>
            <a:off x="9765792" y="3136392"/>
            <a:ext cx="457200" cy="457200"/>
          </a:xfrm>
          <a:prstGeom prst="roundRect">
            <a:avLst>
              <a:gd name="adj" fmla="val 16000"/>
            </a:avLst>
          </a:prstGeom>
          <a:solidFill>
            <a:srgbClr val="0E2A6B"/>
          </a:solidFill>
          <a:ln/>
          <a:effectLst>
            <a:outerShdw sx="100000" sy="100000" kx="0" ky="0" algn="bl" rotWithShape="0" blurRad="88900" dist="25400" dir="5400000">
              <a:srgbClr val="000000">
                <a:alpha val="10000"/>
              </a:srgbClr>
            </a:outerShdw>
          </a:effectLst>
        </p:spPr>
      </p:sp>
      <p:pic>
        <p:nvPicPr>
          <p:cNvPr id="33" name="Image 6" descr="preencoded.png">    </p:cNvPr>
          <p:cNvPicPr>
            <a:picLocks noChangeAspect="1"/>
          </p:cNvPicPr>
          <p:nvPr/>
        </p:nvPicPr>
        <p:blipFill>
          <a:blip r:embed="rId7"/>
          <a:stretch>
            <a:fillRect/>
          </a:stretch>
        </p:blipFill>
        <p:spPr>
          <a:xfrm>
            <a:off x="9820656" y="3191256"/>
            <a:ext cx="347472" cy="347472"/>
          </a:xfrm>
          <a:prstGeom prst="rect">
            <a:avLst/>
          </a:prstGeom>
        </p:spPr>
      </p:pic>
      <p:sp>
        <p:nvSpPr>
          <p:cNvPr id="34" name="Text 25"/>
          <p:cNvSpPr/>
          <p:nvPr/>
        </p:nvSpPr>
        <p:spPr>
          <a:xfrm>
            <a:off x="10927080" y="3063240"/>
            <a:ext cx="457200" cy="457200"/>
          </a:xfrm>
          <a:prstGeom prst="rect">
            <a:avLst/>
          </a:prstGeom>
          <a:noFill/>
          <a:ln/>
        </p:spPr>
        <p:txBody>
          <a:bodyPr wrap="square" lIns="0" tIns="0" rIns="0" bIns="0" rtlCol="0" anchor="t"/>
          <a:lstStyle/>
          <a:p>
            <a:pPr algn="r" indent="0" marL="0">
              <a:buNone/>
            </a:pPr>
            <a:r>
              <a:rPr lang="en-US" sz="2400" b="1" dirty="0">
                <a:solidFill>
                  <a:srgbClr val="FBE7E5"/>
                </a:solidFill>
                <a:latin typeface="Cambria" pitchFamily="34" charset="0"/>
                <a:ea typeface="Cambria" pitchFamily="34" charset="-122"/>
                <a:cs typeface="Cambria" pitchFamily="34" charset="-120"/>
              </a:rPr>
              <a:t>?</a:t>
            </a:r>
            <a:endParaRPr lang="en-US" sz="2400" dirty="0"/>
          </a:p>
        </p:txBody>
      </p:sp>
      <p:sp>
        <p:nvSpPr>
          <p:cNvPr id="35" name="Text 26"/>
          <p:cNvSpPr/>
          <p:nvPr/>
        </p:nvSpPr>
        <p:spPr>
          <a:xfrm>
            <a:off x="9765792" y="3749040"/>
            <a:ext cx="1618488" cy="365760"/>
          </a:xfrm>
          <a:prstGeom prst="rect">
            <a:avLst/>
          </a:prstGeom>
          <a:noFill/>
          <a:ln/>
        </p:spPr>
        <p:txBody>
          <a:bodyPr wrap="square" lIns="0" tIns="0" rIns="0" bIns="0" rtlCol="0" anchor="ctr"/>
          <a:lstStyle/>
          <a:p>
            <a:pPr indent="0" marL="0">
              <a:buNone/>
            </a:pPr>
            <a:r>
              <a:rPr lang="en-US" sz="1350" b="1" dirty="0">
                <a:solidFill>
                  <a:srgbClr val="16203A"/>
                </a:solidFill>
                <a:latin typeface="Calibri" pitchFamily="34" charset="0"/>
                <a:ea typeface="Calibri" pitchFamily="34" charset="-122"/>
                <a:cs typeface="Calibri" pitchFamily="34" charset="-120"/>
              </a:rPr>
              <a:t>Sponsorship Event</a:t>
            </a:r>
            <a:endParaRPr lang="en-US" sz="1350" dirty="0"/>
          </a:p>
        </p:txBody>
      </p:sp>
      <p:sp>
        <p:nvSpPr>
          <p:cNvPr id="36" name="Text 27"/>
          <p:cNvSpPr/>
          <p:nvPr/>
        </p:nvSpPr>
        <p:spPr>
          <a:xfrm>
            <a:off x="9765792" y="4087368"/>
            <a:ext cx="1618488" cy="822960"/>
          </a:xfrm>
          <a:prstGeom prst="rect">
            <a:avLst/>
          </a:prstGeom>
          <a:noFill/>
          <a:ln/>
        </p:spPr>
        <p:txBody>
          <a:bodyPr wrap="square" lIns="0" tIns="0" rIns="0" bIns="0" rtlCol="0" anchor="ctr"/>
          <a:lstStyle/>
          <a:p>
            <a:pPr indent="0" marL="0">
              <a:lnSpc>
                <a:spcPct val="103000"/>
              </a:lnSpc>
              <a:buNone/>
            </a:pPr>
            <a:r>
              <a:rPr lang="en-US" sz="1050" dirty="0">
                <a:solidFill>
                  <a:srgbClr val="5C6A86"/>
                </a:solidFill>
                <a:latin typeface="Calibri" pitchFamily="34" charset="0"/>
                <a:ea typeface="Calibri" pitchFamily="34" charset="-122"/>
                <a:cs typeface="Calibri" pitchFamily="34" charset="-120"/>
              </a:rPr>
              <a:t>Official Mineral Water event berstandar internasional</a:t>
            </a:r>
            <a:endParaRPr lang="en-US" sz="1050" dirty="0"/>
          </a:p>
        </p:txBody>
      </p:sp>
      <p:sp>
        <p:nvSpPr>
          <p:cNvPr id="37" name="Shape 28"/>
          <p:cNvSpPr/>
          <p:nvPr/>
        </p:nvSpPr>
        <p:spPr>
          <a:xfrm>
            <a:off x="640080" y="5303520"/>
            <a:ext cx="10908792" cy="566928"/>
          </a:xfrm>
          <a:prstGeom prst="roundRect">
            <a:avLst>
              <a:gd name="adj" fmla="val 9677"/>
            </a:avLst>
          </a:prstGeom>
          <a:solidFill>
            <a:srgbClr val="0E2A6B"/>
          </a:solidFill>
          <a:ln/>
        </p:spPr>
      </p:sp>
      <p:sp>
        <p:nvSpPr>
          <p:cNvPr id="38" name="Text 29"/>
          <p:cNvSpPr/>
          <p:nvPr/>
        </p:nvSpPr>
        <p:spPr>
          <a:xfrm>
            <a:off x="914400" y="5303520"/>
            <a:ext cx="10360152" cy="566928"/>
          </a:xfrm>
          <a:prstGeom prst="rect">
            <a:avLst/>
          </a:prstGeom>
          <a:noFill/>
          <a:ln/>
        </p:spPr>
        <p:txBody>
          <a:bodyPr wrap="square" lIns="0" tIns="0" rIns="0" bIns="0" rtlCol="0" anchor="ctr"/>
          <a:lstStyle/>
          <a:p>
            <a:pPr algn="l" indent="0" marL="0">
              <a:buNone/>
            </a:pPr>
            <a:r>
              <a:rPr lang="en-US" sz="1250" i="1" dirty="0">
                <a:solidFill>
                  <a:srgbClr val="FFFFFF"/>
                </a:solidFill>
                <a:latin typeface="Calibri" pitchFamily="34" charset="0"/>
                <a:ea typeface="Calibri" pitchFamily="34" charset="-122"/>
                <a:cs typeface="Calibri" pitchFamily="34" charset="-120"/>
              </a:rPr>
              <a:t>Tanpa ukuran efektivitas per narasi, setiap rupiah campaign berikutnya bertaruh pada tebakan.</a:t>
            </a:r>
            <a:endParaRPr lang="en-US" sz="1250" dirty="0"/>
          </a:p>
        </p:txBody>
      </p:sp>
      <p:sp>
        <p:nvSpPr>
          <p:cNvPr id="39" name="Text 30"/>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850" dirty="0">
                <a:solidFill>
                  <a:srgbClr val="5C6A86"/>
                </a:solidFill>
                <a:latin typeface="Calibri" pitchFamily="34" charset="0"/>
                <a:ea typeface="Calibri" pitchFamily="34" charset="-122"/>
                <a:cs typeface="Calibri" pitchFamily="34" charset="-120"/>
              </a:rPr>
              <a:t>CONFIDENTIAL · Le Minerale × dataxet:sonar</a:t>
            </a:r>
            <a:endParaRPr lang="en-US" sz="850" dirty="0"/>
          </a:p>
        </p:txBody>
      </p:sp>
      <p:sp>
        <p:nvSpPr>
          <p:cNvPr id="40" name="Text 31"/>
          <p:cNvSpPr/>
          <p:nvPr/>
        </p:nvSpPr>
        <p:spPr>
          <a:xfrm>
            <a:off x="10451592" y="6400800"/>
            <a:ext cx="1097280" cy="274320"/>
          </a:xfrm>
          <a:prstGeom prst="rect">
            <a:avLst/>
          </a:prstGeom>
          <a:noFill/>
          <a:ln/>
        </p:spPr>
        <p:txBody>
          <a:bodyPr wrap="square" lIns="0" tIns="0" rIns="0" bIns="0" rtlCol="0" anchor="ctr"/>
          <a:lstStyle/>
          <a:p>
            <a:pPr algn="r" indent="0" marL="0">
              <a:buNone/>
            </a:pPr>
            <a:r>
              <a:rPr lang="en-US" sz="900" dirty="0">
                <a:solidFill>
                  <a:srgbClr val="5C6A86"/>
                </a:solidFill>
                <a:latin typeface="Calibri" pitchFamily="34" charset="0"/>
                <a:ea typeface="Calibri" pitchFamily="34" charset="-122"/>
                <a:cs typeface="Calibri" pitchFamily="34" charset="-120"/>
              </a:rPr>
              <a:t>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8FD"/>
        </a:solidFill>
      </p:bgPr>
    </p:bg>
    <p:spTree>
      <p:nvGrpSpPr>
        <p:cNvPr id="1" name=""/>
        <p:cNvGrpSpPr/>
        <p:nvPr/>
      </p:nvGrpSpPr>
      <p:grpSpPr>
        <a:xfrm>
          <a:off x="0" y="0"/>
          <a:ext cx="0" cy="0"/>
          <a:chOff x="0" y="0"/>
          <a:chExt cx="0" cy="0"/>
        </a:xfrm>
      </p:grpSpPr>
      <p:pic>
        <p:nvPicPr>
          <p:cNvPr id="2"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3"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4" name="Text 0"/>
          <p:cNvSpPr/>
          <p:nvPr/>
        </p:nvSpPr>
        <p:spPr>
          <a:xfrm>
            <a:off x="640080" y="932688"/>
            <a:ext cx="6400800" cy="310896"/>
          </a:xfrm>
          <a:prstGeom prst="rect">
            <a:avLst/>
          </a:prstGeom>
          <a:noFill/>
          <a:ln/>
        </p:spPr>
        <p:txBody>
          <a:bodyPr wrap="square" lIns="0" tIns="0" rIns="0" bIns="0" rtlCol="0" anchor="ctr"/>
          <a:lstStyle/>
          <a:p>
            <a:pPr algn="l" indent="0" marL="0">
              <a:buNone/>
            </a:pPr>
            <a:r>
              <a:rPr lang="en-US" sz="1250" b="1" spc="300" kern="0" dirty="0">
                <a:solidFill>
                  <a:srgbClr val="E1251B"/>
                </a:solidFill>
                <a:latin typeface="Calibri" pitchFamily="34" charset="0"/>
                <a:ea typeface="Calibri" pitchFamily="34" charset="-122"/>
                <a:cs typeface="Calibri" pitchFamily="34" charset="-120"/>
              </a:rPr>
              <a:t>BIAYA DIAM</a:t>
            </a:r>
            <a:endParaRPr lang="en-US" sz="1250" dirty="0"/>
          </a:p>
        </p:txBody>
      </p:sp>
      <p:sp>
        <p:nvSpPr>
          <p:cNvPr id="5" name="Text 1"/>
          <p:cNvSpPr/>
          <p:nvPr/>
        </p:nvSpPr>
        <p:spPr>
          <a:xfrm>
            <a:off x="640080" y="1298448"/>
            <a:ext cx="10908792" cy="1024128"/>
          </a:xfrm>
          <a:prstGeom prst="rect">
            <a:avLst/>
          </a:prstGeom>
          <a:noFill/>
          <a:ln/>
        </p:spPr>
        <p:txBody>
          <a:bodyPr wrap="square" lIns="0" tIns="0" rIns="0" bIns="0" rtlCol="0" anchor="t"/>
          <a:lstStyle/>
          <a:p>
            <a:pPr algn="l" indent="0" marL="0">
              <a:lnSpc>
                <a:spcPct val="100000"/>
              </a:lnSpc>
              <a:buNone/>
            </a:pPr>
            <a:r>
              <a:rPr lang="en-US" sz="2350" b="1" dirty="0">
                <a:solidFill>
                  <a:srgbClr val="0E2A6B"/>
                </a:solidFill>
                <a:latin typeface="Cambria" pitchFamily="34" charset="0"/>
                <a:ea typeface="Cambria" pitchFamily="34" charset="-122"/>
                <a:cs typeface="Cambria" pitchFamily="34" charset="-120"/>
              </a:rPr>
              <a:t>Tiga Hal Sudah Terjadi, Berjalan Tanpa Terukur</a:t>
            </a:r>
            <a:endParaRPr lang="en-US" sz="2350" dirty="0"/>
          </a:p>
        </p:txBody>
      </p:sp>
      <p:sp>
        <p:nvSpPr>
          <p:cNvPr id="6" name="Text 2"/>
          <p:cNvSpPr/>
          <p:nvPr/>
        </p:nvSpPr>
        <p:spPr>
          <a:xfrm>
            <a:off x="640080" y="2286000"/>
            <a:ext cx="10908792" cy="640080"/>
          </a:xfrm>
          <a:prstGeom prst="rect">
            <a:avLst/>
          </a:prstGeom>
          <a:noFill/>
          <a:ln/>
        </p:spPr>
        <p:txBody>
          <a:bodyPr wrap="square" lIns="0" tIns="0" rIns="0" bIns="0" rtlCol="0" anchor="t"/>
          <a:lstStyle/>
          <a:p>
            <a:pPr algn="l" indent="0" marL="0">
              <a:lnSpc>
                <a:spcPct val="105000"/>
              </a:lnSpc>
              <a:buNone/>
            </a:pPr>
            <a:r>
              <a:rPr lang="en-US" sz="1350" dirty="0">
                <a:solidFill>
                  <a:srgbClr val="5C6A86"/>
                </a:solidFill>
                <a:latin typeface="Calibri" pitchFamily="34" charset="0"/>
                <a:ea typeface="Calibri" pitchFamily="34" charset="-122"/>
                <a:cs typeface="Calibri" pitchFamily="34" charset="-120"/>
              </a:rPr>
              <a:t>Pendatang baru sudah menyasar audiens inti Anda, eksposur sponsorship besar sudah berlalu, dan medan narasi paling sensitif sedang aktif, semuanya tanpa ukuran untuk membacanya.</a:t>
            </a:r>
            <a:endParaRPr lang="en-US" sz="1350" dirty="0"/>
          </a:p>
        </p:txBody>
      </p:sp>
      <p:sp>
        <p:nvSpPr>
          <p:cNvPr id="7" name="Shape 3"/>
          <p:cNvSpPr/>
          <p:nvPr/>
        </p:nvSpPr>
        <p:spPr>
          <a:xfrm>
            <a:off x="640080" y="2926080"/>
            <a:ext cx="3511296" cy="2240280"/>
          </a:xfrm>
          <a:prstGeom prst="roundRect">
            <a:avLst>
              <a:gd name="adj" fmla="val 4082"/>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8" name="Shape 4"/>
          <p:cNvSpPr/>
          <p:nvPr/>
        </p:nvSpPr>
        <p:spPr>
          <a:xfrm>
            <a:off x="914400" y="3218688"/>
            <a:ext cx="512064" cy="512064"/>
          </a:xfrm>
          <a:prstGeom prst="roundRect">
            <a:avLst>
              <a:gd name="adj" fmla="val 14286"/>
            </a:avLst>
          </a:prstGeom>
          <a:solidFill>
            <a:srgbClr val="0E2A6B"/>
          </a:solidFill>
          <a:ln/>
          <a:effectLst>
            <a:outerShdw sx="100000" sy="100000" kx="0" ky="0" algn="bl" rotWithShape="0" blurRad="88900" dist="25400" dir="5400000">
              <a:srgbClr val="000000">
                <a:alpha val="10000"/>
              </a:srgbClr>
            </a:outerShdw>
          </a:effectLst>
        </p:spPr>
      </p:sp>
      <p:pic>
        <p:nvPicPr>
          <p:cNvPr id="9" name="Image 2" descr="preencoded.png">    </p:cNvPr>
          <p:cNvPicPr>
            <a:picLocks noChangeAspect="1"/>
          </p:cNvPicPr>
          <p:nvPr/>
        </p:nvPicPr>
        <p:blipFill>
          <a:blip r:embed="rId3"/>
          <a:stretch>
            <a:fillRect/>
          </a:stretch>
        </p:blipFill>
        <p:spPr>
          <a:xfrm>
            <a:off x="975848" y="3280136"/>
            <a:ext cx="389169" cy="389169"/>
          </a:xfrm>
          <a:prstGeom prst="rect">
            <a:avLst/>
          </a:prstGeom>
        </p:spPr>
      </p:pic>
      <p:sp>
        <p:nvSpPr>
          <p:cNvPr id="10" name="Text 5"/>
          <p:cNvSpPr/>
          <p:nvPr/>
        </p:nvSpPr>
        <p:spPr>
          <a:xfrm>
            <a:off x="914400" y="3913632"/>
            <a:ext cx="2962656" cy="457200"/>
          </a:xfrm>
          <a:prstGeom prst="rect">
            <a:avLst/>
          </a:prstGeom>
          <a:noFill/>
          <a:ln/>
        </p:spPr>
        <p:txBody>
          <a:bodyPr wrap="square" lIns="0" tIns="0" rIns="0" bIns="0" rtlCol="0" anchor="ctr"/>
          <a:lstStyle/>
          <a:p>
            <a:pPr indent="0" marL="0">
              <a:lnSpc>
                <a:spcPct val="100000"/>
              </a:lnSpc>
              <a:buNone/>
            </a:pPr>
            <a:r>
              <a:rPr lang="en-US" sz="1500" b="1" dirty="0">
                <a:solidFill>
                  <a:srgbClr val="16203A"/>
                </a:solidFill>
                <a:latin typeface="Calibri" pitchFamily="34" charset="0"/>
                <a:ea typeface="Calibri" pitchFamily="34" charset="-122"/>
                <a:cs typeface="Calibri" pitchFamily="34" charset="-120"/>
              </a:rPr>
              <a:t>Pesaing baru sudah bergerak</a:t>
            </a:r>
            <a:endParaRPr lang="en-US" sz="1500" dirty="0"/>
          </a:p>
        </p:txBody>
      </p:sp>
      <p:sp>
        <p:nvSpPr>
          <p:cNvPr id="11" name="Text 6"/>
          <p:cNvSpPr/>
          <p:nvPr/>
        </p:nvSpPr>
        <p:spPr>
          <a:xfrm>
            <a:off x="914400" y="4343400"/>
            <a:ext cx="2962656" cy="777240"/>
          </a:xfrm>
          <a:prstGeom prst="rect">
            <a:avLst/>
          </a:prstGeom>
          <a:noFill/>
          <a:ln/>
        </p:spPr>
        <p:txBody>
          <a:bodyPr wrap="square" lIns="0" tIns="0" rIns="0" bIns="0" rtlCol="0" anchor="ctr"/>
          <a:lstStyle/>
          <a:p>
            <a:pPr indent="0" marL="0">
              <a:lnSpc>
                <a:spcPct val="105000"/>
              </a:lnSpc>
              <a:buNone/>
            </a:pPr>
            <a:r>
              <a:rPr lang="en-US" sz="1100" dirty="0">
                <a:solidFill>
                  <a:srgbClr val="5C6A86"/>
                </a:solidFill>
                <a:latin typeface="Calibri" pitchFamily="34" charset="0"/>
                <a:ea typeface="Calibri" pitchFamily="34" charset="-122"/>
                <a:cs typeface="Calibri" pitchFamily="34" charset="-120"/>
              </a:rPr>
              <a:t>Aquviva (Wings) masuk 25 Feb 2025 dengan target eksplisit Gen Z, audiens inti Anda. Share-nya tumbuh tanpa terpantau.</a:t>
            </a:r>
            <a:endParaRPr lang="en-US" sz="1100" dirty="0"/>
          </a:p>
        </p:txBody>
      </p:sp>
      <p:sp>
        <p:nvSpPr>
          <p:cNvPr id="12" name="Shape 7"/>
          <p:cNvSpPr/>
          <p:nvPr/>
        </p:nvSpPr>
        <p:spPr>
          <a:xfrm>
            <a:off x="4398264" y="2926080"/>
            <a:ext cx="3511296" cy="2240280"/>
          </a:xfrm>
          <a:prstGeom prst="roundRect">
            <a:avLst>
              <a:gd name="adj" fmla="val 4082"/>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3" name="Shape 8"/>
          <p:cNvSpPr/>
          <p:nvPr/>
        </p:nvSpPr>
        <p:spPr>
          <a:xfrm>
            <a:off x="4672584" y="3218688"/>
            <a:ext cx="512064" cy="512064"/>
          </a:xfrm>
          <a:prstGeom prst="roundRect">
            <a:avLst>
              <a:gd name="adj" fmla="val 14286"/>
            </a:avLst>
          </a:prstGeom>
          <a:solidFill>
            <a:srgbClr val="0E2A6B"/>
          </a:solidFill>
          <a:ln/>
          <a:effectLst>
            <a:outerShdw sx="100000" sy="100000" kx="0" ky="0" algn="bl" rotWithShape="0" blurRad="88900" dist="25400" dir="5400000">
              <a:srgbClr val="000000">
                <a:alpha val="10000"/>
              </a:srgbClr>
            </a:outerShdw>
          </a:effectLst>
        </p:spPr>
      </p:sp>
      <p:pic>
        <p:nvPicPr>
          <p:cNvPr id="14" name="Image 3" descr="preencoded.png">    </p:cNvPr>
          <p:cNvPicPr>
            <a:picLocks noChangeAspect="1"/>
          </p:cNvPicPr>
          <p:nvPr/>
        </p:nvPicPr>
        <p:blipFill>
          <a:blip r:embed="rId4"/>
          <a:stretch>
            <a:fillRect/>
          </a:stretch>
        </p:blipFill>
        <p:spPr>
          <a:xfrm>
            <a:off x="4734032" y="3280136"/>
            <a:ext cx="389169" cy="389169"/>
          </a:xfrm>
          <a:prstGeom prst="rect">
            <a:avLst/>
          </a:prstGeom>
        </p:spPr>
      </p:pic>
      <p:sp>
        <p:nvSpPr>
          <p:cNvPr id="15" name="Text 9"/>
          <p:cNvSpPr/>
          <p:nvPr/>
        </p:nvSpPr>
        <p:spPr>
          <a:xfrm>
            <a:off x="4672584" y="3913632"/>
            <a:ext cx="2962656" cy="457200"/>
          </a:xfrm>
          <a:prstGeom prst="rect">
            <a:avLst/>
          </a:prstGeom>
          <a:noFill/>
          <a:ln/>
        </p:spPr>
        <p:txBody>
          <a:bodyPr wrap="square" lIns="0" tIns="0" rIns="0" bIns="0" rtlCol="0" anchor="ctr"/>
          <a:lstStyle/>
          <a:p>
            <a:pPr indent="0" marL="0">
              <a:lnSpc>
                <a:spcPct val="100000"/>
              </a:lnSpc>
              <a:buNone/>
            </a:pPr>
            <a:r>
              <a:rPr lang="en-US" sz="1500" b="1" dirty="0">
                <a:solidFill>
                  <a:srgbClr val="16203A"/>
                </a:solidFill>
                <a:latin typeface="Calibri" pitchFamily="34" charset="0"/>
                <a:ea typeface="Calibri" pitchFamily="34" charset="-122"/>
                <a:cs typeface="Calibri" pitchFamily="34" charset="-120"/>
              </a:rPr>
              <a:t>Eksposur besar sudah berlalu</a:t>
            </a:r>
            <a:endParaRPr lang="en-US" sz="1500" dirty="0"/>
          </a:p>
        </p:txBody>
      </p:sp>
      <p:sp>
        <p:nvSpPr>
          <p:cNvPr id="16" name="Text 10"/>
          <p:cNvSpPr/>
          <p:nvPr/>
        </p:nvSpPr>
        <p:spPr>
          <a:xfrm>
            <a:off x="4672584" y="4343400"/>
            <a:ext cx="2962656" cy="777240"/>
          </a:xfrm>
          <a:prstGeom prst="rect">
            <a:avLst/>
          </a:prstGeom>
          <a:noFill/>
          <a:ln/>
        </p:spPr>
        <p:txBody>
          <a:bodyPr wrap="square" lIns="0" tIns="0" rIns="0" bIns="0" rtlCol="0" anchor="ctr"/>
          <a:lstStyle/>
          <a:p>
            <a:pPr indent="0" marL="0">
              <a:lnSpc>
                <a:spcPct val="105000"/>
              </a:lnSpc>
              <a:buNone/>
            </a:pPr>
            <a:r>
              <a:rPr lang="en-US" sz="1100" dirty="0">
                <a:solidFill>
                  <a:srgbClr val="5C6A86"/>
                </a:solidFill>
                <a:latin typeface="Calibri" pitchFamily="34" charset="0"/>
                <a:ea typeface="Calibri" pitchFamily="34" charset="-122"/>
                <a:cs typeface="Calibri" pitchFamily="34" charset="-120"/>
              </a:rPr>
              <a:t>JRF 27.300 pelari dan JAKIM 31.000+ peserta sudah lewat. Eksposurnya tak bisa ditarik ulang menjadi ukuran preferensi.</a:t>
            </a:r>
            <a:endParaRPr lang="en-US" sz="1100" dirty="0"/>
          </a:p>
        </p:txBody>
      </p:sp>
      <p:sp>
        <p:nvSpPr>
          <p:cNvPr id="17" name="Shape 11"/>
          <p:cNvSpPr/>
          <p:nvPr/>
        </p:nvSpPr>
        <p:spPr>
          <a:xfrm>
            <a:off x="8156448" y="2926080"/>
            <a:ext cx="3511296" cy="2240280"/>
          </a:xfrm>
          <a:prstGeom prst="roundRect">
            <a:avLst>
              <a:gd name="adj" fmla="val 4082"/>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8" name="Shape 12"/>
          <p:cNvSpPr/>
          <p:nvPr/>
        </p:nvSpPr>
        <p:spPr>
          <a:xfrm>
            <a:off x="8430768" y="3218688"/>
            <a:ext cx="512064" cy="512064"/>
          </a:xfrm>
          <a:prstGeom prst="roundRect">
            <a:avLst>
              <a:gd name="adj" fmla="val 14286"/>
            </a:avLst>
          </a:prstGeom>
          <a:solidFill>
            <a:srgbClr val="E1251B"/>
          </a:solidFill>
          <a:ln/>
          <a:effectLst>
            <a:outerShdw sx="100000" sy="100000" kx="0" ky="0" algn="bl" rotWithShape="0" blurRad="88900" dist="25400" dir="5400000">
              <a:srgbClr val="000000">
                <a:alpha val="10000"/>
              </a:srgbClr>
            </a:outerShdw>
          </a:effectLst>
        </p:spPr>
      </p:sp>
      <p:pic>
        <p:nvPicPr>
          <p:cNvPr id="19" name="Image 4" descr="preencoded.png">    </p:cNvPr>
          <p:cNvPicPr>
            <a:picLocks noChangeAspect="1"/>
          </p:cNvPicPr>
          <p:nvPr/>
        </p:nvPicPr>
        <p:blipFill>
          <a:blip r:embed="rId5"/>
          <a:stretch>
            <a:fillRect/>
          </a:stretch>
        </p:blipFill>
        <p:spPr>
          <a:xfrm>
            <a:off x="8492216" y="3280136"/>
            <a:ext cx="389169" cy="389169"/>
          </a:xfrm>
          <a:prstGeom prst="rect">
            <a:avLst/>
          </a:prstGeom>
        </p:spPr>
      </p:pic>
      <p:sp>
        <p:nvSpPr>
          <p:cNvPr id="20" name="Text 13"/>
          <p:cNvSpPr/>
          <p:nvPr/>
        </p:nvSpPr>
        <p:spPr>
          <a:xfrm>
            <a:off x="8430768" y="3913632"/>
            <a:ext cx="2962656" cy="457200"/>
          </a:xfrm>
          <a:prstGeom prst="rect">
            <a:avLst/>
          </a:prstGeom>
          <a:noFill/>
          <a:ln/>
        </p:spPr>
        <p:txBody>
          <a:bodyPr wrap="square" lIns="0" tIns="0" rIns="0" bIns="0" rtlCol="0" anchor="ctr"/>
          <a:lstStyle/>
          <a:p>
            <a:pPr indent="0" marL="0">
              <a:lnSpc>
                <a:spcPct val="100000"/>
              </a:lnSpc>
              <a:buNone/>
            </a:pPr>
            <a:r>
              <a:rPr lang="en-US" sz="1500" b="1" dirty="0">
                <a:solidFill>
                  <a:srgbClr val="16203A"/>
                </a:solidFill>
                <a:latin typeface="Calibri" pitchFamily="34" charset="0"/>
                <a:ea typeface="Calibri" pitchFamily="34" charset="-122"/>
                <a:cs typeface="Calibri" pitchFamily="34" charset="-120"/>
              </a:rPr>
              <a:t>Medan narasi sensitif aktif</a:t>
            </a:r>
            <a:endParaRPr lang="en-US" sz="1500" dirty="0"/>
          </a:p>
        </p:txBody>
      </p:sp>
      <p:sp>
        <p:nvSpPr>
          <p:cNvPr id="21" name="Text 14"/>
          <p:cNvSpPr/>
          <p:nvPr/>
        </p:nvSpPr>
        <p:spPr>
          <a:xfrm>
            <a:off x="8430768" y="4343400"/>
            <a:ext cx="2962656" cy="777240"/>
          </a:xfrm>
          <a:prstGeom prst="rect">
            <a:avLst/>
          </a:prstGeom>
          <a:noFill/>
          <a:ln/>
        </p:spPr>
        <p:txBody>
          <a:bodyPr wrap="square" lIns="0" tIns="0" rIns="0" bIns="0" rtlCol="0" anchor="ctr"/>
          <a:lstStyle/>
          <a:p>
            <a:pPr indent="0" marL="0">
              <a:lnSpc>
                <a:spcPct val="105000"/>
              </a:lnSpc>
              <a:buNone/>
            </a:pPr>
            <a:r>
              <a:rPr lang="en-US" sz="1100" dirty="0">
                <a:solidFill>
                  <a:srgbClr val="5C6A86"/>
                </a:solidFill>
                <a:latin typeface="Calibri" pitchFamily="34" charset="0"/>
                <a:ea typeface="Calibri" pitchFamily="34" charset="-122"/>
                <a:cs typeface="Calibri" pitchFamily="34" charset="-120"/>
              </a:rPr>
              <a:t>Regulasi BPA BPOM 6/2024 dalam masa transisi. Narasi BPA Free Anda berpolemik tanpa early-warning sentimen.</a:t>
            </a:r>
            <a:endParaRPr lang="en-US" sz="1100" dirty="0"/>
          </a:p>
        </p:txBody>
      </p:sp>
      <p:sp>
        <p:nvSpPr>
          <p:cNvPr id="22" name="Shape 15"/>
          <p:cNvSpPr/>
          <p:nvPr/>
        </p:nvSpPr>
        <p:spPr>
          <a:xfrm>
            <a:off x="640080" y="5440680"/>
            <a:ext cx="10908792" cy="566928"/>
          </a:xfrm>
          <a:prstGeom prst="roundRect">
            <a:avLst>
              <a:gd name="adj" fmla="val 9677"/>
            </a:avLst>
          </a:prstGeom>
          <a:solidFill>
            <a:srgbClr val="0E2A6B"/>
          </a:solidFill>
          <a:ln/>
        </p:spPr>
      </p:sp>
      <p:sp>
        <p:nvSpPr>
          <p:cNvPr id="23" name="Text 16"/>
          <p:cNvSpPr/>
          <p:nvPr/>
        </p:nvSpPr>
        <p:spPr>
          <a:xfrm>
            <a:off x="914400" y="5440680"/>
            <a:ext cx="10360152" cy="566928"/>
          </a:xfrm>
          <a:prstGeom prst="rect">
            <a:avLst/>
          </a:prstGeom>
          <a:noFill/>
          <a:ln/>
        </p:spPr>
        <p:txBody>
          <a:bodyPr wrap="square" lIns="0" tIns="0" rIns="0" bIns="0" rtlCol="0" anchor="ctr"/>
          <a:lstStyle/>
          <a:p>
            <a:pPr algn="l" indent="0" marL="0">
              <a:buNone/>
            </a:pPr>
            <a:r>
              <a:rPr lang="en-US" sz="1250" i="1" dirty="0">
                <a:solidFill>
                  <a:srgbClr val="FFFFFF"/>
                </a:solidFill>
                <a:latin typeface="Calibri" pitchFamily="34" charset="0"/>
                <a:ea typeface="Calibri" pitchFamily="34" charset="-122"/>
                <a:cs typeface="Calibri" pitchFamily="34" charset="-120"/>
              </a:rPr>
              <a:t>Yang sudah terjadi menciptakan urgensi nyata. Yang mungkin terjadi hanya menciptakan kecemasan abstrak.</a:t>
            </a:r>
            <a:endParaRPr lang="en-US" sz="1250" dirty="0"/>
          </a:p>
        </p:txBody>
      </p:sp>
      <p:sp>
        <p:nvSpPr>
          <p:cNvPr id="24" name="Text 17"/>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850" dirty="0">
                <a:solidFill>
                  <a:srgbClr val="5C6A86"/>
                </a:solidFill>
                <a:latin typeface="Calibri" pitchFamily="34" charset="0"/>
                <a:ea typeface="Calibri" pitchFamily="34" charset="-122"/>
                <a:cs typeface="Calibri" pitchFamily="34" charset="-120"/>
              </a:rPr>
              <a:t>CONFIDENTIAL · Le Minerale × dataxet:sonar</a:t>
            </a:r>
            <a:endParaRPr lang="en-US" sz="850" dirty="0"/>
          </a:p>
        </p:txBody>
      </p:sp>
      <p:sp>
        <p:nvSpPr>
          <p:cNvPr id="25" name="Text 18"/>
          <p:cNvSpPr/>
          <p:nvPr/>
        </p:nvSpPr>
        <p:spPr>
          <a:xfrm>
            <a:off x="10451592" y="6400800"/>
            <a:ext cx="1097280" cy="274320"/>
          </a:xfrm>
          <a:prstGeom prst="rect">
            <a:avLst/>
          </a:prstGeom>
          <a:noFill/>
          <a:ln/>
        </p:spPr>
        <p:txBody>
          <a:bodyPr wrap="square" lIns="0" tIns="0" rIns="0" bIns="0" rtlCol="0" anchor="ctr"/>
          <a:lstStyle/>
          <a:p>
            <a:pPr algn="r" indent="0" marL="0">
              <a:buNone/>
            </a:pPr>
            <a:r>
              <a:rPr lang="en-US" sz="900" dirty="0">
                <a:solidFill>
                  <a:srgbClr val="5C6A86"/>
                </a:solidFill>
                <a:latin typeface="Calibri" pitchFamily="34" charset="0"/>
                <a:ea typeface="Calibri" pitchFamily="34" charset="-122"/>
                <a:cs typeface="Calibri" pitchFamily="34" charset="-120"/>
              </a:rPr>
              <a:t>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8FD"/>
        </a:solidFill>
      </p:bgPr>
    </p:bg>
    <p:spTree>
      <p:nvGrpSpPr>
        <p:cNvPr id="1" name=""/>
        <p:cNvGrpSpPr/>
        <p:nvPr/>
      </p:nvGrpSpPr>
      <p:grpSpPr>
        <a:xfrm>
          <a:off x="0" y="0"/>
          <a:ext cx="0" cy="0"/>
          <a:chOff x="0" y="0"/>
          <a:chExt cx="0" cy="0"/>
        </a:xfrm>
      </p:grpSpPr>
      <p:pic>
        <p:nvPicPr>
          <p:cNvPr id="2"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3"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4" name="Text 0"/>
          <p:cNvSpPr/>
          <p:nvPr/>
        </p:nvSpPr>
        <p:spPr>
          <a:xfrm>
            <a:off x="640080" y="932688"/>
            <a:ext cx="6400800" cy="310896"/>
          </a:xfrm>
          <a:prstGeom prst="rect">
            <a:avLst/>
          </a:prstGeom>
          <a:noFill/>
          <a:ln/>
        </p:spPr>
        <p:txBody>
          <a:bodyPr wrap="square" lIns="0" tIns="0" rIns="0" bIns="0" rtlCol="0" anchor="ctr"/>
          <a:lstStyle/>
          <a:p>
            <a:pPr algn="l" indent="0" marL="0">
              <a:buNone/>
            </a:pPr>
            <a:r>
              <a:rPr lang="en-US" sz="1250" b="1" spc="300" kern="0" dirty="0">
                <a:solidFill>
                  <a:srgbClr val="2E86C8"/>
                </a:solidFill>
                <a:latin typeface="Calibri" pitchFamily="34" charset="0"/>
                <a:ea typeface="Calibri" pitchFamily="34" charset="-122"/>
                <a:cs typeface="Calibri" pitchFamily="34" charset="-120"/>
              </a:rPr>
              <a:t>BUKTI MOMENTUM</a:t>
            </a:r>
            <a:endParaRPr lang="en-US" sz="1250" dirty="0"/>
          </a:p>
        </p:txBody>
      </p:sp>
      <p:sp>
        <p:nvSpPr>
          <p:cNvPr id="5" name="Text 1"/>
          <p:cNvSpPr/>
          <p:nvPr/>
        </p:nvSpPr>
        <p:spPr>
          <a:xfrm>
            <a:off x="640080" y="1298448"/>
            <a:ext cx="10908792" cy="1024128"/>
          </a:xfrm>
          <a:prstGeom prst="rect">
            <a:avLst/>
          </a:prstGeom>
          <a:noFill/>
          <a:ln/>
        </p:spPr>
        <p:txBody>
          <a:bodyPr wrap="square" lIns="0" tIns="0" rIns="0" bIns="0" rtlCol="0" anchor="t"/>
          <a:lstStyle/>
          <a:p>
            <a:pPr algn="l" indent="0" marL="0">
              <a:lnSpc>
                <a:spcPct val="100000"/>
              </a:lnSpc>
              <a:buNone/>
            </a:pPr>
            <a:r>
              <a:rPr lang="en-US" sz="2350" b="1" dirty="0">
                <a:solidFill>
                  <a:srgbClr val="0E2A6B"/>
                </a:solidFill>
                <a:latin typeface="Cambria" pitchFamily="34" charset="0"/>
                <a:ea typeface="Cambria" pitchFamily="34" charset="-122"/>
                <a:cs typeface="Cambria" pitchFamily="34" charset="-120"/>
              </a:rPr>
              <a:t>Momentum Sebesar Ini Terlalu Mahal Untuk Ditebak</a:t>
            </a:r>
            <a:endParaRPr lang="en-US" sz="2350" dirty="0"/>
          </a:p>
        </p:txBody>
      </p:sp>
      <p:sp>
        <p:nvSpPr>
          <p:cNvPr id="6" name="Text 2"/>
          <p:cNvSpPr/>
          <p:nvPr/>
        </p:nvSpPr>
        <p:spPr>
          <a:xfrm>
            <a:off x="640080" y="2194560"/>
            <a:ext cx="10908792" cy="640080"/>
          </a:xfrm>
          <a:prstGeom prst="rect">
            <a:avLst/>
          </a:prstGeom>
          <a:noFill/>
          <a:ln/>
        </p:spPr>
        <p:txBody>
          <a:bodyPr wrap="square" lIns="0" tIns="0" rIns="0" bIns="0" rtlCol="0" anchor="t"/>
          <a:lstStyle/>
          <a:p>
            <a:pPr algn="l" indent="0" marL="0">
              <a:lnSpc>
                <a:spcPct val="105000"/>
              </a:lnSpc>
              <a:buNone/>
            </a:pPr>
            <a:r>
              <a:rPr lang="en-US" sz="1350" dirty="0">
                <a:solidFill>
                  <a:srgbClr val="5C6A86"/>
                </a:solidFill>
                <a:latin typeface="Calibri" pitchFamily="34" charset="0"/>
                <a:ea typeface="Calibri" pitchFamily="34" charset="-122"/>
                <a:cs typeface="Calibri" pitchFamily="34" charset="-120"/>
              </a:rPr>
              <a:t>Pertumbuhan yang menggeser dominasi puluhan tahun layak diarahkan dengan data. Ruang rebutan pangsa masih terbuka lebar.</a:t>
            </a:r>
            <a:endParaRPr lang="en-US" sz="1350" dirty="0"/>
          </a:p>
        </p:txBody>
      </p:sp>
      <p:sp>
        <p:nvSpPr>
          <p:cNvPr id="7" name="Shape 3"/>
          <p:cNvSpPr/>
          <p:nvPr/>
        </p:nvSpPr>
        <p:spPr>
          <a:xfrm>
            <a:off x="640080" y="2743200"/>
            <a:ext cx="4754880" cy="841248"/>
          </a:xfrm>
          <a:prstGeom prst="roundRect">
            <a:avLst>
              <a:gd name="adj" fmla="val 9783"/>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8" name="Text 4"/>
          <p:cNvSpPr/>
          <p:nvPr/>
        </p:nvSpPr>
        <p:spPr>
          <a:xfrm>
            <a:off x="896112" y="2788920"/>
            <a:ext cx="1920240" cy="749808"/>
          </a:xfrm>
          <a:prstGeom prst="rect">
            <a:avLst/>
          </a:prstGeom>
          <a:noFill/>
          <a:ln/>
        </p:spPr>
        <p:txBody>
          <a:bodyPr wrap="square" lIns="0" tIns="0" rIns="0" bIns="0" rtlCol="0" anchor="ctr"/>
          <a:lstStyle/>
          <a:p>
            <a:pPr algn="l" indent="0" marL="0">
              <a:buNone/>
            </a:pPr>
            <a:r>
              <a:rPr lang="en-US" sz="2100" b="1" dirty="0">
                <a:solidFill>
                  <a:srgbClr val="2E86C8"/>
                </a:solidFill>
                <a:latin typeface="Cambria" pitchFamily="34" charset="0"/>
                <a:ea typeface="Cambria" pitchFamily="34" charset="-122"/>
                <a:cs typeface="Cambria" pitchFamily="34" charset="-120"/>
              </a:rPr>
              <a:t>↗ +14,2 pt</a:t>
            </a:r>
            <a:endParaRPr lang="en-US" sz="2100" dirty="0"/>
          </a:p>
        </p:txBody>
      </p:sp>
      <p:sp>
        <p:nvSpPr>
          <p:cNvPr id="9" name="Text 5"/>
          <p:cNvSpPr/>
          <p:nvPr/>
        </p:nvSpPr>
        <p:spPr>
          <a:xfrm>
            <a:off x="2880360" y="2788920"/>
            <a:ext cx="2286000" cy="749808"/>
          </a:xfrm>
          <a:prstGeom prst="rect">
            <a:avLst/>
          </a:prstGeom>
          <a:noFill/>
          <a:ln/>
        </p:spPr>
        <p:txBody>
          <a:bodyPr wrap="square" lIns="0" tIns="0" rIns="0" bIns="0" rtlCol="0" anchor="ctr"/>
          <a:lstStyle/>
          <a:p>
            <a:pPr algn="l" indent="0" marL="0">
              <a:lnSpc>
                <a:spcPct val="100000"/>
              </a:lnSpc>
              <a:buNone/>
            </a:pPr>
            <a:r>
              <a:rPr lang="en-US" sz="1050" dirty="0">
                <a:solidFill>
                  <a:srgbClr val="5C6A86"/>
                </a:solidFill>
                <a:latin typeface="Calibri" pitchFamily="34" charset="0"/>
                <a:ea typeface="Calibri" pitchFamily="34" charset="-122"/>
                <a:cs typeface="Calibri" pitchFamily="34" charset="-120"/>
              </a:rPr>
              <a:t>Top Brand Index Le Minerale naik sekitar 4× lipat (2021–2024)</a:t>
            </a:r>
            <a:endParaRPr lang="en-US" sz="1050" dirty="0"/>
          </a:p>
        </p:txBody>
      </p:sp>
      <p:sp>
        <p:nvSpPr>
          <p:cNvPr id="10" name="Shape 6"/>
          <p:cNvSpPr/>
          <p:nvPr/>
        </p:nvSpPr>
        <p:spPr>
          <a:xfrm>
            <a:off x="640080" y="3694176"/>
            <a:ext cx="4754880" cy="841248"/>
          </a:xfrm>
          <a:prstGeom prst="roundRect">
            <a:avLst>
              <a:gd name="adj" fmla="val 9783"/>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1" name="Text 7"/>
          <p:cNvSpPr/>
          <p:nvPr/>
        </p:nvSpPr>
        <p:spPr>
          <a:xfrm>
            <a:off x="896112" y="3739896"/>
            <a:ext cx="1920240" cy="749808"/>
          </a:xfrm>
          <a:prstGeom prst="rect">
            <a:avLst/>
          </a:prstGeom>
          <a:noFill/>
          <a:ln/>
        </p:spPr>
        <p:txBody>
          <a:bodyPr wrap="square" lIns="0" tIns="0" rIns="0" bIns="0" rtlCol="0" anchor="ctr"/>
          <a:lstStyle/>
          <a:p>
            <a:pPr algn="l" indent="0" marL="0">
              <a:buNone/>
            </a:pPr>
            <a:r>
              <a:rPr lang="en-US" sz="2100" b="1" dirty="0">
                <a:solidFill>
                  <a:srgbClr val="E1251B"/>
                </a:solidFill>
                <a:latin typeface="Cambria" pitchFamily="34" charset="0"/>
                <a:ea typeface="Cambria" pitchFamily="34" charset="-122"/>
                <a:cs typeface="Cambria" pitchFamily="34" charset="-120"/>
              </a:rPr>
              <a:t>↘ –15,6 pt</a:t>
            </a:r>
            <a:endParaRPr lang="en-US" sz="2100" dirty="0"/>
          </a:p>
        </p:txBody>
      </p:sp>
      <p:sp>
        <p:nvSpPr>
          <p:cNvPr id="12" name="Text 8"/>
          <p:cNvSpPr/>
          <p:nvPr/>
        </p:nvSpPr>
        <p:spPr>
          <a:xfrm>
            <a:off x="2880360" y="3739896"/>
            <a:ext cx="2286000" cy="749808"/>
          </a:xfrm>
          <a:prstGeom prst="rect">
            <a:avLst/>
          </a:prstGeom>
          <a:noFill/>
          <a:ln/>
        </p:spPr>
        <p:txBody>
          <a:bodyPr wrap="square" lIns="0" tIns="0" rIns="0" bIns="0" rtlCol="0" anchor="ctr"/>
          <a:lstStyle/>
          <a:p>
            <a:pPr algn="l" indent="0" marL="0">
              <a:lnSpc>
                <a:spcPct val="100000"/>
              </a:lnSpc>
              <a:buNone/>
            </a:pPr>
            <a:r>
              <a:rPr lang="en-US" sz="1050" dirty="0">
                <a:solidFill>
                  <a:srgbClr val="5C6A86"/>
                </a:solidFill>
                <a:latin typeface="Calibri" pitchFamily="34" charset="0"/>
                <a:ea typeface="Calibri" pitchFamily="34" charset="-122"/>
                <a:cs typeface="Calibri" pitchFamily="34" charset="-120"/>
              </a:rPr>
              <a:t>Aqua, sang market leader, melemah di periode yang sama</a:t>
            </a:r>
            <a:endParaRPr lang="en-US" sz="1050" dirty="0"/>
          </a:p>
        </p:txBody>
      </p:sp>
      <p:sp>
        <p:nvSpPr>
          <p:cNvPr id="13" name="Shape 9"/>
          <p:cNvSpPr/>
          <p:nvPr/>
        </p:nvSpPr>
        <p:spPr>
          <a:xfrm>
            <a:off x="640080" y="4645152"/>
            <a:ext cx="4754880" cy="841248"/>
          </a:xfrm>
          <a:prstGeom prst="roundRect">
            <a:avLst>
              <a:gd name="adj" fmla="val 9783"/>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4" name="Text 10"/>
          <p:cNvSpPr/>
          <p:nvPr/>
        </p:nvSpPr>
        <p:spPr>
          <a:xfrm>
            <a:off x="896112" y="4690872"/>
            <a:ext cx="1920240" cy="749808"/>
          </a:xfrm>
          <a:prstGeom prst="rect">
            <a:avLst/>
          </a:prstGeom>
          <a:noFill/>
          <a:ln/>
        </p:spPr>
        <p:txBody>
          <a:bodyPr wrap="square" lIns="0" tIns="0" rIns="0" bIns="0" rtlCol="0" anchor="ctr"/>
          <a:lstStyle/>
          <a:p>
            <a:pPr algn="l" indent="0" marL="0">
              <a:buNone/>
            </a:pPr>
            <a:r>
              <a:rPr lang="en-US" sz="2100" b="1" dirty="0">
                <a:solidFill>
                  <a:srgbClr val="0E2A6B"/>
                </a:solidFill>
                <a:latin typeface="Cambria" pitchFamily="34" charset="0"/>
                <a:ea typeface="Cambria" pitchFamily="34" charset="-122"/>
                <a:cs typeface="Cambria" pitchFamily="34" charset="-120"/>
              </a:rPr>
              <a:t>USD ~3,9 M</a:t>
            </a:r>
            <a:endParaRPr lang="en-US" sz="2100" dirty="0"/>
          </a:p>
        </p:txBody>
      </p:sp>
      <p:sp>
        <p:nvSpPr>
          <p:cNvPr id="15" name="Text 11"/>
          <p:cNvSpPr/>
          <p:nvPr/>
        </p:nvSpPr>
        <p:spPr>
          <a:xfrm>
            <a:off x="2880360" y="4690872"/>
            <a:ext cx="2286000" cy="749808"/>
          </a:xfrm>
          <a:prstGeom prst="rect">
            <a:avLst/>
          </a:prstGeom>
          <a:noFill/>
          <a:ln/>
        </p:spPr>
        <p:txBody>
          <a:bodyPr wrap="square" lIns="0" tIns="0" rIns="0" bIns="0" rtlCol="0" anchor="ctr"/>
          <a:lstStyle/>
          <a:p>
            <a:pPr algn="l" indent="0" marL="0">
              <a:lnSpc>
                <a:spcPct val="100000"/>
              </a:lnSpc>
              <a:buNone/>
            </a:pPr>
            <a:r>
              <a:rPr lang="en-US" sz="1050" dirty="0">
                <a:solidFill>
                  <a:srgbClr val="5C6A86"/>
                </a:solidFill>
                <a:latin typeface="Calibri" pitchFamily="34" charset="0"/>
                <a:ea typeface="Calibri" pitchFamily="34" charset="-122"/>
                <a:cs typeface="Calibri" pitchFamily="34" charset="-120"/>
              </a:rPr>
              <a:t>Nilai pasar AMDK 2024, ruang rebutan masih terbuka</a:t>
            </a:r>
            <a:endParaRPr lang="en-US" sz="1050" dirty="0"/>
          </a:p>
        </p:txBody>
      </p:sp>
      <p:sp>
        <p:nvSpPr>
          <p:cNvPr id="16" name="Text 12"/>
          <p:cNvSpPr/>
          <p:nvPr/>
        </p:nvSpPr>
        <p:spPr>
          <a:xfrm>
            <a:off x="5943600" y="2697480"/>
            <a:ext cx="5486400" cy="320040"/>
          </a:xfrm>
          <a:prstGeom prst="rect">
            <a:avLst/>
          </a:prstGeom>
          <a:noFill/>
          <a:ln/>
        </p:spPr>
        <p:txBody>
          <a:bodyPr wrap="square" lIns="0" tIns="0" rIns="0" bIns="0" rtlCol="0" anchor="ctr"/>
          <a:lstStyle/>
          <a:p>
            <a:pPr indent="0" marL="0">
              <a:buNone/>
            </a:pPr>
            <a:r>
              <a:rPr lang="en-US" sz="1250" b="1" dirty="0">
                <a:solidFill>
                  <a:srgbClr val="16203A"/>
                </a:solidFill>
                <a:latin typeface="Calibri" pitchFamily="34" charset="0"/>
                <a:ea typeface="Calibri" pitchFamily="34" charset="-122"/>
                <a:cs typeface="Calibri" pitchFamily="34" charset="-120"/>
              </a:rPr>
              <a:t>Top Brand Index: Le Minerale vs Aqua</a:t>
            </a:r>
            <a:endParaRPr lang="en-US" sz="1250" dirty="0"/>
          </a:p>
        </p:txBody>
      </p:sp>
      <p:graphicFrame>
        <p:nvGraphicFramePr>
          <p:cNvPr id="17" name="Chart 0" descr=""/>
          <p:cNvGraphicFramePr/>
          <p:nvPr/>
        </p:nvGraphicFramePr>
        <p:xfrm>
          <a:off x="5897880" y="3035808"/>
          <a:ext cx="5623560" cy="2377440"/>
        </p:xfrm>
        <a:graphic xmlns:a="http://schemas.openxmlformats.org/drawingml/2006/main">
          <a:graphicData uri="http://schemas.openxmlformats.org/drawingml/2006/chart">
            <c:chart xmlns:c="http://schemas.openxmlformats.org/drawingml/2006/chart" r:id="rId3"/>
          </a:graphicData>
        </a:graphic>
      </p:graphicFrame>
      <p:sp>
        <p:nvSpPr>
          <p:cNvPr id="18" name="Text 13"/>
          <p:cNvSpPr/>
          <p:nvPr/>
        </p:nvSpPr>
        <p:spPr>
          <a:xfrm>
            <a:off x="5897880" y="5486400"/>
            <a:ext cx="5486400" cy="228600"/>
          </a:xfrm>
          <a:prstGeom prst="rect">
            <a:avLst/>
          </a:prstGeom>
          <a:noFill/>
          <a:ln/>
        </p:spPr>
        <p:txBody>
          <a:bodyPr wrap="square" lIns="0" tIns="0" rIns="0" bIns="0" rtlCol="0" anchor="ctr"/>
          <a:lstStyle/>
          <a:p>
            <a:pPr indent="0" marL="0">
              <a:buNone/>
            </a:pPr>
            <a:r>
              <a:rPr lang="en-US" sz="850" i="1" dirty="0">
                <a:solidFill>
                  <a:srgbClr val="5C6A86"/>
                </a:solidFill>
                <a:latin typeface="Calibri" pitchFamily="34" charset="0"/>
                <a:ea typeface="Calibri" pitchFamily="34" charset="-122"/>
                <a:cs typeface="Calibri" pitchFamily="34" charset="-120"/>
              </a:rPr>
              <a:t>Sumber: enciety.co (2024–2025)</a:t>
            </a:r>
            <a:endParaRPr lang="en-US" sz="850" dirty="0"/>
          </a:p>
        </p:txBody>
      </p:sp>
      <p:sp>
        <p:nvSpPr>
          <p:cNvPr id="19" name="Shape 14"/>
          <p:cNvSpPr/>
          <p:nvPr/>
        </p:nvSpPr>
        <p:spPr>
          <a:xfrm>
            <a:off x="640080" y="5760720"/>
            <a:ext cx="10908792" cy="566928"/>
          </a:xfrm>
          <a:prstGeom prst="roundRect">
            <a:avLst>
              <a:gd name="adj" fmla="val 9677"/>
            </a:avLst>
          </a:prstGeom>
          <a:solidFill>
            <a:srgbClr val="0E2A6B"/>
          </a:solidFill>
          <a:ln/>
        </p:spPr>
      </p:sp>
      <p:sp>
        <p:nvSpPr>
          <p:cNvPr id="20" name="Text 15"/>
          <p:cNvSpPr/>
          <p:nvPr/>
        </p:nvSpPr>
        <p:spPr>
          <a:xfrm>
            <a:off x="914400" y="5760720"/>
            <a:ext cx="10360152" cy="566928"/>
          </a:xfrm>
          <a:prstGeom prst="rect">
            <a:avLst/>
          </a:prstGeom>
          <a:noFill/>
          <a:ln/>
        </p:spPr>
        <p:txBody>
          <a:bodyPr wrap="square" lIns="0" tIns="0" rIns="0" bIns="0" rtlCol="0" anchor="ctr"/>
          <a:lstStyle/>
          <a:p>
            <a:pPr algn="l" indent="0" marL="0">
              <a:buNone/>
            </a:pPr>
            <a:r>
              <a:rPr lang="en-US" sz="1250" i="1" dirty="0">
                <a:solidFill>
                  <a:srgbClr val="FFFFFF"/>
                </a:solidFill>
                <a:latin typeface="Calibri" pitchFamily="34" charset="0"/>
                <a:ea typeface="Calibri" pitchFamily="34" charset="-122"/>
                <a:cs typeface="Calibri" pitchFamily="34" charset="-120"/>
              </a:rPr>
              <a:t>Pasar AMDK Indonesia sekitar USD 3,9 miliar (2024). Setiap poin preferensi punya nilai nyata.</a:t>
            </a:r>
            <a:endParaRPr lang="en-US" sz="1250" dirty="0"/>
          </a:p>
        </p:txBody>
      </p:sp>
      <p:sp>
        <p:nvSpPr>
          <p:cNvPr id="21" name="Text 16"/>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850" dirty="0">
                <a:solidFill>
                  <a:srgbClr val="5C6A86"/>
                </a:solidFill>
                <a:latin typeface="Calibri" pitchFamily="34" charset="0"/>
                <a:ea typeface="Calibri" pitchFamily="34" charset="-122"/>
                <a:cs typeface="Calibri" pitchFamily="34" charset="-120"/>
              </a:rPr>
              <a:t>CONFIDENTIAL · Le Minerale × dataxet:sonar</a:t>
            </a:r>
            <a:endParaRPr lang="en-US" sz="850" dirty="0"/>
          </a:p>
        </p:txBody>
      </p:sp>
      <p:sp>
        <p:nvSpPr>
          <p:cNvPr id="22" name="Text 17"/>
          <p:cNvSpPr/>
          <p:nvPr/>
        </p:nvSpPr>
        <p:spPr>
          <a:xfrm>
            <a:off x="10451592" y="6400800"/>
            <a:ext cx="1097280" cy="274320"/>
          </a:xfrm>
          <a:prstGeom prst="rect">
            <a:avLst/>
          </a:prstGeom>
          <a:noFill/>
          <a:ln/>
        </p:spPr>
        <p:txBody>
          <a:bodyPr wrap="square" lIns="0" tIns="0" rIns="0" bIns="0" rtlCol="0" anchor="ctr"/>
          <a:lstStyle/>
          <a:p>
            <a:pPr algn="r" indent="0" marL="0">
              <a:buNone/>
            </a:pPr>
            <a:r>
              <a:rPr lang="en-US" sz="900" dirty="0">
                <a:solidFill>
                  <a:srgbClr val="5C6A86"/>
                </a:solidFill>
                <a:latin typeface="Calibri" pitchFamily="34" charset="0"/>
                <a:ea typeface="Calibri" pitchFamily="34" charset="-122"/>
                <a:cs typeface="Calibri" pitchFamily="34" charset="-120"/>
              </a:rPr>
              <a:t>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8FD"/>
        </a:solidFill>
      </p:bgPr>
    </p:bg>
    <p:spTree>
      <p:nvGrpSpPr>
        <p:cNvPr id="1" name=""/>
        <p:cNvGrpSpPr/>
        <p:nvPr/>
      </p:nvGrpSpPr>
      <p:grpSpPr>
        <a:xfrm>
          <a:off x="0" y="0"/>
          <a:ext cx="0" cy="0"/>
          <a:chOff x="0" y="0"/>
          <a:chExt cx="0" cy="0"/>
        </a:xfrm>
      </p:grpSpPr>
      <p:pic>
        <p:nvPicPr>
          <p:cNvPr id="2"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3"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4" name="Text 0"/>
          <p:cNvSpPr/>
          <p:nvPr/>
        </p:nvSpPr>
        <p:spPr>
          <a:xfrm>
            <a:off x="640080" y="932688"/>
            <a:ext cx="6400800" cy="310896"/>
          </a:xfrm>
          <a:prstGeom prst="rect">
            <a:avLst/>
          </a:prstGeom>
          <a:noFill/>
          <a:ln/>
        </p:spPr>
        <p:txBody>
          <a:bodyPr wrap="square" lIns="0" tIns="0" rIns="0" bIns="0" rtlCol="0" anchor="ctr"/>
          <a:lstStyle/>
          <a:p>
            <a:pPr algn="l" indent="0" marL="0">
              <a:buNone/>
            </a:pPr>
            <a:r>
              <a:rPr lang="en-US" sz="1250" b="1" spc="300" kern="0" dirty="0">
                <a:solidFill>
                  <a:srgbClr val="2E86C8"/>
                </a:solidFill>
                <a:latin typeface="Calibri" pitchFamily="34" charset="0"/>
                <a:ea typeface="Calibri" pitchFamily="34" charset="-122"/>
                <a:cs typeface="Calibri" pitchFamily="34" charset="-120"/>
              </a:rPr>
              <a:t>WAWASAN STRATEGIS</a:t>
            </a:r>
            <a:endParaRPr lang="en-US" sz="1250" dirty="0"/>
          </a:p>
        </p:txBody>
      </p:sp>
      <p:sp>
        <p:nvSpPr>
          <p:cNvPr id="5" name="Text 1"/>
          <p:cNvSpPr/>
          <p:nvPr/>
        </p:nvSpPr>
        <p:spPr>
          <a:xfrm>
            <a:off x="640080" y="1298448"/>
            <a:ext cx="10908792" cy="1024128"/>
          </a:xfrm>
          <a:prstGeom prst="rect">
            <a:avLst/>
          </a:prstGeom>
          <a:noFill/>
          <a:ln/>
        </p:spPr>
        <p:txBody>
          <a:bodyPr wrap="square" lIns="0" tIns="0" rIns="0" bIns="0" rtlCol="0" anchor="t"/>
          <a:lstStyle/>
          <a:p>
            <a:pPr algn="l" indent="0" marL="0">
              <a:lnSpc>
                <a:spcPct val="100000"/>
              </a:lnSpc>
              <a:buNone/>
            </a:pPr>
            <a:r>
              <a:rPr lang="en-US" sz="2350" b="1" dirty="0">
                <a:solidFill>
                  <a:srgbClr val="0E2A6B"/>
                </a:solidFill>
                <a:latin typeface="Cambria" pitchFamily="34" charset="0"/>
                <a:ea typeface="Cambria" pitchFamily="34" charset="-122"/>
                <a:cs typeface="Cambria" pitchFamily="34" charset="-120"/>
              </a:rPr>
              <a:t>Volume Mengukur Seberapa Ramai. Efektivitas Mengukur Apa Yang Mengubah Preferensi.</a:t>
            </a:r>
            <a:endParaRPr lang="en-US" sz="2350" dirty="0"/>
          </a:p>
        </p:txBody>
      </p:sp>
      <p:sp>
        <p:nvSpPr>
          <p:cNvPr id="6" name="Text 2"/>
          <p:cNvSpPr/>
          <p:nvPr/>
        </p:nvSpPr>
        <p:spPr>
          <a:xfrm>
            <a:off x="640080" y="2331720"/>
            <a:ext cx="10908792" cy="640080"/>
          </a:xfrm>
          <a:prstGeom prst="rect">
            <a:avLst/>
          </a:prstGeom>
          <a:noFill/>
          <a:ln/>
        </p:spPr>
        <p:txBody>
          <a:bodyPr wrap="square" lIns="0" tIns="0" rIns="0" bIns="0" rtlCol="0" anchor="t"/>
          <a:lstStyle/>
          <a:p>
            <a:pPr algn="l" indent="0" marL="0">
              <a:lnSpc>
                <a:spcPct val="105000"/>
              </a:lnSpc>
              <a:buNone/>
            </a:pPr>
            <a:r>
              <a:rPr lang="en-US" sz="1350" dirty="0">
                <a:solidFill>
                  <a:srgbClr val="5C6A86"/>
                </a:solidFill>
                <a:latin typeface="Calibri" pitchFamily="34" charset="0"/>
                <a:ea typeface="Calibri" pitchFamily="34" charset="-122"/>
                <a:cs typeface="Calibri" pitchFamily="34" charset="-120"/>
              </a:rPr>
              <a:t>Efektivitas narasi adalah perpaduan tiga lapis yang bersama-sama memisahkan 'ramai' dari 'menggerakkan'.</a:t>
            </a:r>
            <a:endParaRPr lang="en-US" sz="1350" dirty="0"/>
          </a:p>
        </p:txBody>
      </p:sp>
      <p:sp>
        <p:nvSpPr>
          <p:cNvPr id="7" name="Shape 3"/>
          <p:cNvSpPr/>
          <p:nvPr/>
        </p:nvSpPr>
        <p:spPr>
          <a:xfrm>
            <a:off x="640080" y="2971800"/>
            <a:ext cx="2907792" cy="2194560"/>
          </a:xfrm>
          <a:prstGeom prst="roundRect">
            <a:avLst>
              <a:gd name="adj" fmla="val 4167"/>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8" name="Shape 4"/>
          <p:cNvSpPr/>
          <p:nvPr/>
        </p:nvSpPr>
        <p:spPr>
          <a:xfrm>
            <a:off x="896112" y="3246120"/>
            <a:ext cx="512064" cy="512064"/>
          </a:xfrm>
          <a:prstGeom prst="ellipse">
            <a:avLst/>
          </a:prstGeom>
          <a:solidFill>
            <a:srgbClr val="E4F1FB"/>
          </a:solidFill>
          <a:ln/>
        </p:spPr>
      </p:sp>
      <p:sp>
        <p:nvSpPr>
          <p:cNvPr id="9" name="Text 5"/>
          <p:cNvSpPr/>
          <p:nvPr/>
        </p:nvSpPr>
        <p:spPr>
          <a:xfrm>
            <a:off x="896112" y="3246120"/>
            <a:ext cx="512064" cy="512064"/>
          </a:xfrm>
          <a:prstGeom prst="rect">
            <a:avLst/>
          </a:prstGeom>
          <a:noFill/>
          <a:ln/>
        </p:spPr>
        <p:txBody>
          <a:bodyPr wrap="square" lIns="0" tIns="0" rIns="0" bIns="0" rtlCol="0" anchor="ctr"/>
          <a:lstStyle/>
          <a:p>
            <a:pPr algn="ctr" indent="0" marL="0">
              <a:buNone/>
            </a:pPr>
            <a:r>
              <a:rPr lang="en-US" sz="2000" b="1" dirty="0">
                <a:solidFill>
                  <a:srgbClr val="1E78C8"/>
                </a:solidFill>
                <a:latin typeface="Cambria" pitchFamily="34" charset="0"/>
                <a:ea typeface="Cambria" pitchFamily="34" charset="-122"/>
                <a:cs typeface="Cambria" pitchFamily="34" charset="-120"/>
              </a:rPr>
              <a:t>1</a:t>
            </a:r>
            <a:endParaRPr lang="en-US" sz="2000" dirty="0"/>
          </a:p>
        </p:txBody>
      </p:sp>
      <p:sp>
        <p:nvSpPr>
          <p:cNvPr id="10" name="Shape 6"/>
          <p:cNvSpPr/>
          <p:nvPr/>
        </p:nvSpPr>
        <p:spPr>
          <a:xfrm>
            <a:off x="2798064" y="3264408"/>
            <a:ext cx="457200" cy="457200"/>
          </a:xfrm>
          <a:prstGeom prst="roundRect">
            <a:avLst>
              <a:gd name="adj" fmla="val 16000"/>
            </a:avLst>
          </a:prstGeom>
          <a:solidFill>
            <a:srgbClr val="0E2A6B"/>
          </a:solidFill>
          <a:ln/>
          <a:effectLst>
            <a:outerShdw sx="100000" sy="100000" kx="0" ky="0" algn="bl" rotWithShape="0" blurRad="88900" dist="25400" dir="5400000">
              <a:srgbClr val="000000">
                <a:alpha val="10000"/>
              </a:srgbClr>
            </a:outerShdw>
          </a:effectLst>
        </p:spPr>
      </p:sp>
      <p:pic>
        <p:nvPicPr>
          <p:cNvPr id="11" name="Image 2" descr="preencoded.png">    </p:cNvPr>
          <p:cNvPicPr>
            <a:picLocks noChangeAspect="1"/>
          </p:cNvPicPr>
          <p:nvPr/>
        </p:nvPicPr>
        <p:blipFill>
          <a:blip r:embed="rId3"/>
          <a:stretch>
            <a:fillRect/>
          </a:stretch>
        </p:blipFill>
        <p:spPr>
          <a:xfrm>
            <a:off x="2852928" y="3319272"/>
            <a:ext cx="347472" cy="347472"/>
          </a:xfrm>
          <a:prstGeom prst="rect">
            <a:avLst/>
          </a:prstGeom>
        </p:spPr>
      </p:pic>
      <p:sp>
        <p:nvSpPr>
          <p:cNvPr id="12" name="Text 7"/>
          <p:cNvSpPr/>
          <p:nvPr/>
        </p:nvSpPr>
        <p:spPr>
          <a:xfrm>
            <a:off x="896112" y="3904488"/>
            <a:ext cx="2395728" cy="457200"/>
          </a:xfrm>
          <a:prstGeom prst="rect">
            <a:avLst/>
          </a:prstGeom>
          <a:noFill/>
          <a:ln/>
        </p:spPr>
        <p:txBody>
          <a:bodyPr wrap="square" lIns="0" tIns="0" rIns="0" bIns="0" rtlCol="0" anchor="ctr"/>
          <a:lstStyle/>
          <a:p>
            <a:pPr indent="0" marL="0">
              <a:lnSpc>
                <a:spcPct val="100000"/>
              </a:lnSpc>
              <a:buNone/>
            </a:pPr>
            <a:r>
              <a:rPr lang="en-US" sz="1350" b="1" dirty="0">
                <a:solidFill>
                  <a:srgbClr val="16203A"/>
                </a:solidFill>
                <a:latin typeface="Calibri" pitchFamily="34" charset="0"/>
                <a:ea typeface="Calibri" pitchFamily="34" charset="-122"/>
                <a:cs typeface="Calibri" pitchFamily="34" charset="-120"/>
              </a:rPr>
              <a:t>Share of Conversation</a:t>
            </a:r>
            <a:endParaRPr lang="en-US" sz="1350" dirty="0"/>
          </a:p>
        </p:txBody>
      </p:sp>
      <p:sp>
        <p:nvSpPr>
          <p:cNvPr id="13" name="Text 8"/>
          <p:cNvSpPr/>
          <p:nvPr/>
        </p:nvSpPr>
        <p:spPr>
          <a:xfrm>
            <a:off x="896112" y="4306824"/>
            <a:ext cx="2395728" cy="777240"/>
          </a:xfrm>
          <a:prstGeom prst="rect">
            <a:avLst/>
          </a:prstGeom>
          <a:noFill/>
          <a:ln/>
        </p:spPr>
        <p:txBody>
          <a:bodyPr wrap="square" lIns="0" tIns="0" rIns="0" bIns="0" rtlCol="0" anchor="ctr"/>
          <a:lstStyle/>
          <a:p>
            <a:pPr indent="0" marL="0">
              <a:lnSpc>
                <a:spcPct val="105000"/>
              </a:lnSpc>
              <a:buNone/>
            </a:pPr>
            <a:r>
              <a:rPr lang="en-US" sz="1050" dirty="0">
                <a:solidFill>
                  <a:srgbClr val="5C6A86"/>
                </a:solidFill>
                <a:latin typeface="Calibri" pitchFamily="34" charset="0"/>
                <a:ea typeface="Calibri" pitchFamily="34" charset="-122"/>
                <a:cs typeface="Calibri" pitchFamily="34" charset="-120"/>
              </a:rPr>
              <a:t>Seberapa besar ruang percakapan yang ditempati tiap narasi, bukan sekadar volume mentah.</a:t>
            </a:r>
            <a:endParaRPr lang="en-US" sz="1050" dirty="0"/>
          </a:p>
        </p:txBody>
      </p:sp>
      <p:sp>
        <p:nvSpPr>
          <p:cNvPr id="14" name="Text 9"/>
          <p:cNvSpPr/>
          <p:nvPr/>
        </p:nvSpPr>
        <p:spPr>
          <a:xfrm>
            <a:off x="3566160" y="3749040"/>
            <a:ext cx="466344" cy="640080"/>
          </a:xfrm>
          <a:prstGeom prst="rect">
            <a:avLst/>
          </a:prstGeom>
          <a:noFill/>
          <a:ln/>
        </p:spPr>
        <p:txBody>
          <a:bodyPr wrap="square" lIns="0" tIns="0" rIns="0" bIns="0" rtlCol="0" anchor="ctr"/>
          <a:lstStyle/>
          <a:p>
            <a:pPr algn="ctr" indent="0" marL="0">
              <a:buNone/>
            </a:pPr>
            <a:r>
              <a:rPr lang="en-US" sz="2600" b="1" dirty="0">
                <a:solidFill>
                  <a:srgbClr val="5C6A86"/>
                </a:solidFill>
                <a:latin typeface="Cambria" pitchFamily="34" charset="0"/>
                <a:ea typeface="Cambria" pitchFamily="34" charset="-122"/>
                <a:cs typeface="Cambria" pitchFamily="34" charset="-120"/>
              </a:rPr>
              <a:t>+</a:t>
            </a:r>
            <a:endParaRPr lang="en-US" sz="2600" dirty="0"/>
          </a:p>
        </p:txBody>
      </p:sp>
      <p:sp>
        <p:nvSpPr>
          <p:cNvPr id="15" name="Shape 10"/>
          <p:cNvSpPr/>
          <p:nvPr/>
        </p:nvSpPr>
        <p:spPr>
          <a:xfrm>
            <a:off x="4050792" y="2971800"/>
            <a:ext cx="2907792" cy="2194560"/>
          </a:xfrm>
          <a:prstGeom prst="roundRect">
            <a:avLst>
              <a:gd name="adj" fmla="val 4167"/>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6" name="Shape 11"/>
          <p:cNvSpPr/>
          <p:nvPr/>
        </p:nvSpPr>
        <p:spPr>
          <a:xfrm>
            <a:off x="4306824" y="3246120"/>
            <a:ext cx="512064" cy="512064"/>
          </a:xfrm>
          <a:prstGeom prst="ellipse">
            <a:avLst/>
          </a:prstGeom>
          <a:solidFill>
            <a:srgbClr val="E4F1FB"/>
          </a:solidFill>
          <a:ln/>
        </p:spPr>
      </p:sp>
      <p:sp>
        <p:nvSpPr>
          <p:cNvPr id="17" name="Text 12"/>
          <p:cNvSpPr/>
          <p:nvPr/>
        </p:nvSpPr>
        <p:spPr>
          <a:xfrm>
            <a:off x="4306824" y="3246120"/>
            <a:ext cx="512064" cy="512064"/>
          </a:xfrm>
          <a:prstGeom prst="rect">
            <a:avLst/>
          </a:prstGeom>
          <a:noFill/>
          <a:ln/>
        </p:spPr>
        <p:txBody>
          <a:bodyPr wrap="square" lIns="0" tIns="0" rIns="0" bIns="0" rtlCol="0" anchor="ctr"/>
          <a:lstStyle/>
          <a:p>
            <a:pPr algn="ctr" indent="0" marL="0">
              <a:buNone/>
            </a:pPr>
            <a:r>
              <a:rPr lang="en-US" sz="2000" b="1" dirty="0">
                <a:solidFill>
                  <a:srgbClr val="1E78C8"/>
                </a:solidFill>
                <a:latin typeface="Cambria" pitchFamily="34" charset="0"/>
                <a:ea typeface="Cambria" pitchFamily="34" charset="-122"/>
                <a:cs typeface="Cambria" pitchFamily="34" charset="-120"/>
              </a:rPr>
              <a:t>2</a:t>
            </a:r>
            <a:endParaRPr lang="en-US" sz="2000" dirty="0"/>
          </a:p>
        </p:txBody>
      </p:sp>
      <p:sp>
        <p:nvSpPr>
          <p:cNvPr id="18" name="Shape 13"/>
          <p:cNvSpPr/>
          <p:nvPr/>
        </p:nvSpPr>
        <p:spPr>
          <a:xfrm>
            <a:off x="6208776" y="3264408"/>
            <a:ext cx="457200" cy="457200"/>
          </a:xfrm>
          <a:prstGeom prst="roundRect">
            <a:avLst>
              <a:gd name="adj" fmla="val 16000"/>
            </a:avLst>
          </a:prstGeom>
          <a:solidFill>
            <a:srgbClr val="0E2A6B"/>
          </a:solidFill>
          <a:ln/>
          <a:effectLst>
            <a:outerShdw sx="100000" sy="100000" kx="0" ky="0" algn="bl" rotWithShape="0" blurRad="88900" dist="25400" dir="5400000">
              <a:srgbClr val="000000">
                <a:alpha val="10000"/>
              </a:srgbClr>
            </a:outerShdw>
          </a:effectLst>
        </p:spPr>
      </p:sp>
      <p:pic>
        <p:nvPicPr>
          <p:cNvPr id="19" name="Image 3" descr="preencoded.png">    </p:cNvPr>
          <p:cNvPicPr>
            <a:picLocks noChangeAspect="1"/>
          </p:cNvPicPr>
          <p:nvPr/>
        </p:nvPicPr>
        <p:blipFill>
          <a:blip r:embed="rId4"/>
          <a:stretch>
            <a:fillRect/>
          </a:stretch>
        </p:blipFill>
        <p:spPr>
          <a:xfrm>
            <a:off x="6263640" y="3319272"/>
            <a:ext cx="347472" cy="347472"/>
          </a:xfrm>
          <a:prstGeom prst="rect">
            <a:avLst/>
          </a:prstGeom>
        </p:spPr>
      </p:pic>
      <p:sp>
        <p:nvSpPr>
          <p:cNvPr id="20" name="Text 14"/>
          <p:cNvSpPr/>
          <p:nvPr/>
        </p:nvSpPr>
        <p:spPr>
          <a:xfrm>
            <a:off x="4306824" y="3904488"/>
            <a:ext cx="2395728" cy="457200"/>
          </a:xfrm>
          <a:prstGeom prst="rect">
            <a:avLst/>
          </a:prstGeom>
          <a:noFill/>
          <a:ln/>
        </p:spPr>
        <p:txBody>
          <a:bodyPr wrap="square" lIns="0" tIns="0" rIns="0" bIns="0" rtlCol="0" anchor="ctr"/>
          <a:lstStyle/>
          <a:p>
            <a:pPr indent="0" marL="0">
              <a:lnSpc>
                <a:spcPct val="100000"/>
              </a:lnSpc>
              <a:buNone/>
            </a:pPr>
            <a:r>
              <a:rPr lang="en-US" sz="1350" b="1" dirty="0">
                <a:solidFill>
                  <a:srgbClr val="16203A"/>
                </a:solidFill>
                <a:latin typeface="Calibri" pitchFamily="34" charset="0"/>
                <a:ea typeface="Calibri" pitchFamily="34" charset="-122"/>
                <a:cs typeface="Calibri" pitchFamily="34" charset="-120"/>
              </a:rPr>
              <a:t>Sentimen per Narasi</a:t>
            </a:r>
            <a:endParaRPr lang="en-US" sz="1350" dirty="0"/>
          </a:p>
        </p:txBody>
      </p:sp>
      <p:sp>
        <p:nvSpPr>
          <p:cNvPr id="21" name="Text 15"/>
          <p:cNvSpPr/>
          <p:nvPr/>
        </p:nvSpPr>
        <p:spPr>
          <a:xfrm>
            <a:off x="4306824" y="4306824"/>
            <a:ext cx="2395728" cy="777240"/>
          </a:xfrm>
          <a:prstGeom prst="rect">
            <a:avLst/>
          </a:prstGeom>
          <a:noFill/>
          <a:ln/>
        </p:spPr>
        <p:txBody>
          <a:bodyPr wrap="square" lIns="0" tIns="0" rIns="0" bIns="0" rtlCol="0" anchor="ctr"/>
          <a:lstStyle/>
          <a:p>
            <a:pPr indent="0" marL="0">
              <a:lnSpc>
                <a:spcPct val="105000"/>
              </a:lnSpc>
              <a:buNone/>
            </a:pPr>
            <a:r>
              <a:rPr lang="en-US" sz="1050" dirty="0">
                <a:solidFill>
                  <a:srgbClr val="5C6A86"/>
                </a:solidFill>
                <a:latin typeface="Calibri" pitchFamily="34" charset="0"/>
                <a:ea typeface="Calibri" pitchFamily="34" charset="-122"/>
                <a:cs typeface="Calibri" pitchFamily="34" charset="-120"/>
              </a:rPr>
              <a:t>Apakah narasi diterima positif, atau berisiko berbalik (mis. BPA Free).</a:t>
            </a:r>
            <a:endParaRPr lang="en-US" sz="1050" dirty="0"/>
          </a:p>
        </p:txBody>
      </p:sp>
      <p:sp>
        <p:nvSpPr>
          <p:cNvPr id="22" name="Text 16"/>
          <p:cNvSpPr/>
          <p:nvPr/>
        </p:nvSpPr>
        <p:spPr>
          <a:xfrm>
            <a:off x="6976872" y="3749040"/>
            <a:ext cx="466344" cy="640080"/>
          </a:xfrm>
          <a:prstGeom prst="rect">
            <a:avLst/>
          </a:prstGeom>
          <a:noFill/>
          <a:ln/>
        </p:spPr>
        <p:txBody>
          <a:bodyPr wrap="square" lIns="0" tIns="0" rIns="0" bIns="0" rtlCol="0" anchor="ctr"/>
          <a:lstStyle/>
          <a:p>
            <a:pPr algn="ctr" indent="0" marL="0">
              <a:buNone/>
            </a:pPr>
            <a:r>
              <a:rPr lang="en-US" sz="2600" b="1" dirty="0">
                <a:solidFill>
                  <a:srgbClr val="5C6A86"/>
                </a:solidFill>
                <a:latin typeface="Cambria" pitchFamily="34" charset="0"/>
                <a:ea typeface="Cambria" pitchFamily="34" charset="-122"/>
                <a:cs typeface="Cambria" pitchFamily="34" charset="-120"/>
              </a:rPr>
              <a:t>+</a:t>
            </a:r>
            <a:endParaRPr lang="en-US" sz="2600" dirty="0"/>
          </a:p>
        </p:txBody>
      </p:sp>
      <p:sp>
        <p:nvSpPr>
          <p:cNvPr id="23" name="Shape 17"/>
          <p:cNvSpPr/>
          <p:nvPr/>
        </p:nvSpPr>
        <p:spPr>
          <a:xfrm>
            <a:off x="7461504" y="2971800"/>
            <a:ext cx="2907792" cy="2194560"/>
          </a:xfrm>
          <a:prstGeom prst="roundRect">
            <a:avLst>
              <a:gd name="adj" fmla="val 4167"/>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24" name="Shape 18"/>
          <p:cNvSpPr/>
          <p:nvPr/>
        </p:nvSpPr>
        <p:spPr>
          <a:xfrm>
            <a:off x="7717536" y="3246120"/>
            <a:ext cx="512064" cy="512064"/>
          </a:xfrm>
          <a:prstGeom prst="ellipse">
            <a:avLst/>
          </a:prstGeom>
          <a:solidFill>
            <a:srgbClr val="E4F1FB"/>
          </a:solidFill>
          <a:ln/>
        </p:spPr>
      </p:sp>
      <p:sp>
        <p:nvSpPr>
          <p:cNvPr id="25" name="Text 19"/>
          <p:cNvSpPr/>
          <p:nvPr/>
        </p:nvSpPr>
        <p:spPr>
          <a:xfrm>
            <a:off x="7717536" y="3246120"/>
            <a:ext cx="512064" cy="512064"/>
          </a:xfrm>
          <a:prstGeom prst="rect">
            <a:avLst/>
          </a:prstGeom>
          <a:noFill/>
          <a:ln/>
        </p:spPr>
        <p:txBody>
          <a:bodyPr wrap="square" lIns="0" tIns="0" rIns="0" bIns="0" rtlCol="0" anchor="ctr"/>
          <a:lstStyle/>
          <a:p>
            <a:pPr algn="ctr" indent="0" marL="0">
              <a:buNone/>
            </a:pPr>
            <a:r>
              <a:rPr lang="en-US" sz="2000" b="1" dirty="0">
                <a:solidFill>
                  <a:srgbClr val="1E78C8"/>
                </a:solidFill>
                <a:latin typeface="Cambria" pitchFamily="34" charset="0"/>
                <a:ea typeface="Cambria" pitchFamily="34" charset="-122"/>
                <a:cs typeface="Cambria" pitchFamily="34" charset="-120"/>
              </a:rPr>
              <a:t>3</a:t>
            </a:r>
            <a:endParaRPr lang="en-US" sz="2000" dirty="0"/>
          </a:p>
        </p:txBody>
      </p:sp>
      <p:sp>
        <p:nvSpPr>
          <p:cNvPr id="26" name="Shape 20"/>
          <p:cNvSpPr/>
          <p:nvPr/>
        </p:nvSpPr>
        <p:spPr>
          <a:xfrm>
            <a:off x="9619488" y="3264408"/>
            <a:ext cx="457200" cy="457200"/>
          </a:xfrm>
          <a:prstGeom prst="roundRect">
            <a:avLst>
              <a:gd name="adj" fmla="val 16000"/>
            </a:avLst>
          </a:prstGeom>
          <a:solidFill>
            <a:srgbClr val="0E2A6B"/>
          </a:solidFill>
          <a:ln/>
          <a:effectLst>
            <a:outerShdw sx="100000" sy="100000" kx="0" ky="0" algn="bl" rotWithShape="0" blurRad="88900" dist="25400" dir="5400000">
              <a:srgbClr val="000000">
                <a:alpha val="10000"/>
              </a:srgbClr>
            </a:outerShdw>
          </a:effectLst>
        </p:spPr>
      </p:sp>
      <p:pic>
        <p:nvPicPr>
          <p:cNvPr id="27" name="Image 4" descr="preencoded.png">    </p:cNvPr>
          <p:cNvPicPr>
            <a:picLocks noChangeAspect="1"/>
          </p:cNvPicPr>
          <p:nvPr/>
        </p:nvPicPr>
        <p:blipFill>
          <a:blip r:embed="rId5"/>
          <a:stretch>
            <a:fillRect/>
          </a:stretch>
        </p:blipFill>
        <p:spPr>
          <a:xfrm>
            <a:off x="9674352" y="3319272"/>
            <a:ext cx="347472" cy="347472"/>
          </a:xfrm>
          <a:prstGeom prst="rect">
            <a:avLst/>
          </a:prstGeom>
        </p:spPr>
      </p:pic>
      <p:sp>
        <p:nvSpPr>
          <p:cNvPr id="28" name="Text 21"/>
          <p:cNvSpPr/>
          <p:nvPr/>
        </p:nvSpPr>
        <p:spPr>
          <a:xfrm>
            <a:off x="7717536" y="3904488"/>
            <a:ext cx="2395728" cy="457200"/>
          </a:xfrm>
          <a:prstGeom prst="rect">
            <a:avLst/>
          </a:prstGeom>
          <a:noFill/>
          <a:ln/>
        </p:spPr>
        <p:txBody>
          <a:bodyPr wrap="square" lIns="0" tIns="0" rIns="0" bIns="0" rtlCol="0" anchor="ctr"/>
          <a:lstStyle/>
          <a:p>
            <a:pPr indent="0" marL="0">
              <a:lnSpc>
                <a:spcPct val="100000"/>
              </a:lnSpc>
              <a:buNone/>
            </a:pPr>
            <a:r>
              <a:rPr lang="en-US" sz="1350" b="1" dirty="0">
                <a:solidFill>
                  <a:srgbClr val="16203A"/>
                </a:solidFill>
                <a:latin typeface="Calibri" pitchFamily="34" charset="0"/>
                <a:ea typeface="Calibri" pitchFamily="34" charset="-122"/>
                <a:cs typeface="Calibri" pitchFamily="34" charset="-120"/>
              </a:rPr>
              <a:t>Engagement Quality</a:t>
            </a:r>
            <a:endParaRPr lang="en-US" sz="1350" dirty="0"/>
          </a:p>
        </p:txBody>
      </p:sp>
      <p:sp>
        <p:nvSpPr>
          <p:cNvPr id="29" name="Text 22"/>
          <p:cNvSpPr/>
          <p:nvPr/>
        </p:nvSpPr>
        <p:spPr>
          <a:xfrm>
            <a:off x="7717536" y="4306824"/>
            <a:ext cx="2395728" cy="777240"/>
          </a:xfrm>
          <a:prstGeom prst="rect">
            <a:avLst/>
          </a:prstGeom>
          <a:noFill/>
          <a:ln/>
        </p:spPr>
        <p:txBody>
          <a:bodyPr wrap="square" lIns="0" tIns="0" rIns="0" bIns="0" rtlCol="0" anchor="ctr"/>
          <a:lstStyle/>
          <a:p>
            <a:pPr indent="0" marL="0">
              <a:lnSpc>
                <a:spcPct val="105000"/>
              </a:lnSpc>
              <a:buNone/>
            </a:pPr>
            <a:r>
              <a:rPr lang="en-US" sz="1050" dirty="0">
                <a:solidFill>
                  <a:srgbClr val="5C6A86"/>
                </a:solidFill>
                <a:latin typeface="Calibri" pitchFamily="34" charset="0"/>
                <a:ea typeface="Calibri" pitchFamily="34" charset="-122"/>
                <a:cs typeface="Calibri" pitchFamily="34" charset="-120"/>
              </a:rPr>
              <a:t>Kedalaman interaksi nyata, bukan reach pasif yang tak menggerakkan preferensi.</a:t>
            </a:r>
            <a:endParaRPr lang="en-US" sz="1050" dirty="0"/>
          </a:p>
        </p:txBody>
      </p:sp>
      <p:sp>
        <p:nvSpPr>
          <p:cNvPr id="30" name="Shape 23"/>
          <p:cNvSpPr/>
          <p:nvPr/>
        </p:nvSpPr>
        <p:spPr>
          <a:xfrm>
            <a:off x="640080" y="5486400"/>
            <a:ext cx="10908792" cy="713232"/>
          </a:xfrm>
          <a:prstGeom prst="roundRect">
            <a:avLst>
              <a:gd name="adj" fmla="val 12821"/>
            </a:avLst>
          </a:prstGeom>
          <a:solidFill>
            <a:srgbClr val="0E2A6B"/>
          </a:solidFill>
          <a:ln/>
        </p:spPr>
      </p:sp>
      <p:sp>
        <p:nvSpPr>
          <p:cNvPr id="31" name="Text 24"/>
          <p:cNvSpPr/>
          <p:nvPr/>
        </p:nvSpPr>
        <p:spPr>
          <a:xfrm>
            <a:off x="960120" y="5486400"/>
            <a:ext cx="10268712" cy="713232"/>
          </a:xfrm>
          <a:prstGeom prst="rect">
            <a:avLst/>
          </a:prstGeom>
          <a:noFill/>
          <a:ln/>
        </p:spPr>
        <p:txBody>
          <a:bodyPr wrap="square" lIns="0" tIns="0" rIns="0" bIns="0" rtlCol="0" anchor="ctr"/>
          <a:lstStyle/>
          <a:p>
            <a:pPr algn="l" indent="0" marL="0">
              <a:buNone/>
            </a:pPr>
            <a:r>
              <a:rPr lang="en-US" sz="1400" b="1" dirty="0">
                <a:solidFill>
                  <a:srgbClr val="E1251B"/>
                </a:solidFill>
                <a:latin typeface="Calibri" pitchFamily="34" charset="0"/>
                <a:ea typeface="Calibri" pitchFamily="34" charset="-122"/>
                <a:cs typeface="Calibri" pitchFamily="34" charset="-120"/>
              </a:rPr>
              <a:t>=  </a:t>
            </a:r>
            <a:pPr algn="l" indent="0" marL="0">
              <a:buNone/>
            </a:pPr>
            <a:r>
              <a:rPr lang="en-US" sz="1400" b="1" dirty="0">
                <a:solidFill>
                  <a:srgbClr val="FFFFFF"/>
                </a:solidFill>
                <a:latin typeface="Calibri" pitchFamily="34" charset="0"/>
                <a:ea typeface="Calibri" pitchFamily="34" charset="-122"/>
                <a:cs typeface="Calibri" pitchFamily="34" charset="-120"/>
              </a:rPr>
              <a:t>Skor Efektivitas Narasi</a:t>
            </a:r>
            <a:pPr algn="l" indent="0" marL="0">
              <a:buNone/>
            </a:pPr>
            <a:r>
              <a:rPr lang="en-US" sz="1400" dirty="0">
                <a:solidFill>
                  <a:srgbClr val="C8D5EE"/>
                </a:solidFill>
                <a:latin typeface="Calibri" pitchFamily="34" charset="0"/>
                <a:ea typeface="Calibri" pitchFamily="34" charset="-122"/>
                <a:cs typeface="Calibri" pitchFamily="34" charset="-120"/>
              </a:rPr>
              <a:t>      →   Peringkat narasi yang bisa langsung ditindaklanjuti.</a:t>
            </a:r>
            <a:endParaRPr lang="en-US" sz="1400" dirty="0"/>
          </a:p>
        </p:txBody>
      </p:sp>
      <p:sp>
        <p:nvSpPr>
          <p:cNvPr id="32" name="Text 25"/>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850" dirty="0">
                <a:solidFill>
                  <a:srgbClr val="5C6A86"/>
                </a:solidFill>
                <a:latin typeface="Calibri" pitchFamily="34" charset="0"/>
                <a:ea typeface="Calibri" pitchFamily="34" charset="-122"/>
                <a:cs typeface="Calibri" pitchFamily="34" charset="-120"/>
              </a:rPr>
              <a:t>CONFIDENTIAL · Le Minerale × dataxet:sonar</a:t>
            </a:r>
            <a:endParaRPr lang="en-US" sz="850" dirty="0"/>
          </a:p>
        </p:txBody>
      </p:sp>
      <p:sp>
        <p:nvSpPr>
          <p:cNvPr id="33" name="Text 26"/>
          <p:cNvSpPr/>
          <p:nvPr/>
        </p:nvSpPr>
        <p:spPr>
          <a:xfrm>
            <a:off x="10451592" y="6400800"/>
            <a:ext cx="1097280" cy="274320"/>
          </a:xfrm>
          <a:prstGeom prst="rect">
            <a:avLst/>
          </a:prstGeom>
          <a:noFill/>
          <a:ln/>
        </p:spPr>
        <p:txBody>
          <a:bodyPr wrap="square" lIns="0" tIns="0" rIns="0" bIns="0" rtlCol="0" anchor="ctr"/>
          <a:lstStyle/>
          <a:p>
            <a:pPr algn="r" indent="0" marL="0">
              <a:buNone/>
            </a:pPr>
            <a:r>
              <a:rPr lang="en-US" sz="900" dirty="0">
                <a:solidFill>
                  <a:srgbClr val="5C6A86"/>
                </a:solidFill>
                <a:latin typeface="Calibri" pitchFamily="34" charset="0"/>
                <a:ea typeface="Calibri" pitchFamily="34" charset="-122"/>
                <a:cs typeface="Calibri" pitchFamily="34" charset="-120"/>
              </a:rPr>
              <a:t>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8FD"/>
        </a:solidFill>
      </p:bgPr>
    </p:bg>
    <p:spTree>
      <p:nvGrpSpPr>
        <p:cNvPr id="1" name=""/>
        <p:cNvGrpSpPr/>
        <p:nvPr/>
      </p:nvGrpSpPr>
      <p:grpSpPr>
        <a:xfrm>
          <a:off x="0" y="0"/>
          <a:ext cx="0" cy="0"/>
          <a:chOff x="0" y="0"/>
          <a:chExt cx="0" cy="0"/>
        </a:xfrm>
      </p:grpSpPr>
      <p:pic>
        <p:nvPicPr>
          <p:cNvPr id="2"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3"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4" name="Text 0"/>
          <p:cNvSpPr/>
          <p:nvPr/>
        </p:nvSpPr>
        <p:spPr>
          <a:xfrm>
            <a:off x="640080" y="932688"/>
            <a:ext cx="6400800" cy="310896"/>
          </a:xfrm>
          <a:prstGeom prst="rect">
            <a:avLst/>
          </a:prstGeom>
          <a:noFill/>
          <a:ln/>
        </p:spPr>
        <p:txBody>
          <a:bodyPr wrap="square" lIns="0" tIns="0" rIns="0" bIns="0" rtlCol="0" anchor="ctr"/>
          <a:lstStyle/>
          <a:p>
            <a:pPr algn="l" indent="0" marL="0">
              <a:buNone/>
            </a:pPr>
            <a:r>
              <a:rPr lang="en-US" sz="1250" b="1" spc="300" kern="0" dirty="0">
                <a:solidFill>
                  <a:srgbClr val="2E86C8"/>
                </a:solidFill>
                <a:latin typeface="Calibri" pitchFamily="34" charset="0"/>
                <a:ea typeface="Calibri" pitchFamily="34" charset="-122"/>
                <a:cs typeface="Calibri" pitchFamily="34" charset="-120"/>
              </a:rPr>
              <a:t>SOLUSI</a:t>
            </a:r>
            <a:endParaRPr lang="en-US" sz="1250" dirty="0"/>
          </a:p>
        </p:txBody>
      </p:sp>
      <p:sp>
        <p:nvSpPr>
          <p:cNvPr id="5" name="Text 1"/>
          <p:cNvSpPr/>
          <p:nvPr/>
        </p:nvSpPr>
        <p:spPr>
          <a:xfrm>
            <a:off x="640080" y="1298448"/>
            <a:ext cx="10908792" cy="1024128"/>
          </a:xfrm>
          <a:prstGeom prst="rect">
            <a:avLst/>
          </a:prstGeom>
          <a:noFill/>
          <a:ln/>
        </p:spPr>
        <p:txBody>
          <a:bodyPr wrap="square" lIns="0" tIns="0" rIns="0" bIns="0" rtlCol="0" anchor="t"/>
          <a:lstStyle/>
          <a:p>
            <a:pPr algn="l" indent="0" marL="0">
              <a:lnSpc>
                <a:spcPct val="100000"/>
              </a:lnSpc>
              <a:buNone/>
            </a:pPr>
            <a:r>
              <a:rPr lang="en-US" sz="2350" b="1" dirty="0">
                <a:solidFill>
                  <a:srgbClr val="0E2A6B"/>
                </a:solidFill>
                <a:latin typeface="Cambria" pitchFamily="34" charset="0"/>
                <a:ea typeface="Cambria" pitchFamily="34" charset="-122"/>
                <a:cs typeface="Cambria" pitchFamily="34" charset="-120"/>
              </a:rPr>
              <a:t>Sonar Mengubah Percakapan Publik Menjadi Peringkat Narasi Siap Pakai</a:t>
            </a:r>
            <a:endParaRPr lang="en-US" sz="2350" dirty="0"/>
          </a:p>
        </p:txBody>
      </p:sp>
      <p:sp>
        <p:nvSpPr>
          <p:cNvPr id="6" name="Text 2"/>
          <p:cNvSpPr/>
          <p:nvPr/>
        </p:nvSpPr>
        <p:spPr>
          <a:xfrm>
            <a:off x="640080" y="2286000"/>
            <a:ext cx="10908792" cy="640080"/>
          </a:xfrm>
          <a:prstGeom prst="rect">
            <a:avLst/>
          </a:prstGeom>
          <a:noFill/>
          <a:ln/>
        </p:spPr>
        <p:txBody>
          <a:bodyPr wrap="square" lIns="0" tIns="0" rIns="0" bIns="0" rtlCol="0" anchor="t"/>
          <a:lstStyle/>
          <a:p>
            <a:pPr algn="l" indent="0" marL="0">
              <a:lnSpc>
                <a:spcPct val="105000"/>
              </a:lnSpc>
              <a:buNone/>
            </a:pPr>
            <a:r>
              <a:rPr lang="en-US" sz="1350" dirty="0">
                <a:solidFill>
                  <a:srgbClr val="5C6A86"/>
                </a:solidFill>
                <a:latin typeface="Calibri" pitchFamily="34" charset="0"/>
                <a:ea typeface="Calibri" pitchFamily="34" charset="-122"/>
                <a:cs typeface="Calibri" pitchFamily="34" charset="-120"/>
              </a:rPr>
              <a:t>Tiga hasil yang langsung menjawab pertanyaan inti Anda: narasi mana yang menang, resonansi sejati vs dorongan brand, dan posisi Anda vs kompetitor.</a:t>
            </a:r>
            <a:endParaRPr lang="en-US" sz="1350" dirty="0"/>
          </a:p>
        </p:txBody>
      </p:sp>
      <p:sp>
        <p:nvSpPr>
          <p:cNvPr id="7" name="Shape 3"/>
          <p:cNvSpPr/>
          <p:nvPr/>
        </p:nvSpPr>
        <p:spPr>
          <a:xfrm>
            <a:off x="640080" y="2971800"/>
            <a:ext cx="5029200" cy="786384"/>
          </a:xfrm>
          <a:prstGeom prst="roundRect">
            <a:avLst>
              <a:gd name="adj" fmla="val 1046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8" name="Shape 4"/>
          <p:cNvSpPr/>
          <p:nvPr/>
        </p:nvSpPr>
        <p:spPr>
          <a:xfrm>
            <a:off x="841248" y="3145536"/>
            <a:ext cx="438912" cy="438912"/>
          </a:xfrm>
          <a:prstGeom prst="roundRect">
            <a:avLst>
              <a:gd name="adj" fmla="val 16667"/>
            </a:avLst>
          </a:prstGeom>
          <a:solidFill>
            <a:srgbClr val="0E2A6B"/>
          </a:solidFill>
          <a:ln/>
          <a:effectLst>
            <a:outerShdw sx="100000" sy="100000" kx="0" ky="0" algn="bl" rotWithShape="0" blurRad="88900" dist="25400" dir="5400000">
              <a:srgbClr val="000000">
                <a:alpha val="10000"/>
              </a:srgbClr>
            </a:outerShdw>
          </a:effectLst>
        </p:spPr>
      </p:sp>
      <p:pic>
        <p:nvPicPr>
          <p:cNvPr id="9" name="Image 2" descr="preencoded.png">    </p:cNvPr>
          <p:cNvPicPr>
            <a:picLocks noChangeAspect="1"/>
          </p:cNvPicPr>
          <p:nvPr/>
        </p:nvPicPr>
        <p:blipFill>
          <a:blip r:embed="rId3"/>
          <a:stretch>
            <a:fillRect/>
          </a:stretch>
        </p:blipFill>
        <p:spPr>
          <a:xfrm>
            <a:off x="893917" y="3198205"/>
            <a:ext cx="333573" cy="333573"/>
          </a:xfrm>
          <a:prstGeom prst="rect">
            <a:avLst/>
          </a:prstGeom>
        </p:spPr>
      </p:pic>
      <p:sp>
        <p:nvSpPr>
          <p:cNvPr id="10" name="Text 5"/>
          <p:cNvSpPr/>
          <p:nvPr/>
        </p:nvSpPr>
        <p:spPr>
          <a:xfrm>
            <a:off x="1481328" y="3081528"/>
            <a:ext cx="4023360" cy="310896"/>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Peringkat Lima Narasi</a:t>
            </a:r>
            <a:endParaRPr lang="en-US" sz="1300" dirty="0"/>
          </a:p>
        </p:txBody>
      </p:sp>
      <p:sp>
        <p:nvSpPr>
          <p:cNvPr id="11" name="Text 6"/>
          <p:cNvSpPr/>
          <p:nvPr/>
        </p:nvSpPr>
        <p:spPr>
          <a:xfrm>
            <a:off x="1481328" y="3374136"/>
            <a:ext cx="4023360" cy="329184"/>
          </a:xfrm>
          <a:prstGeom prst="rect">
            <a:avLst/>
          </a:prstGeom>
          <a:noFill/>
          <a:ln/>
        </p:spPr>
        <p:txBody>
          <a:bodyPr wrap="square" lIns="0" tIns="0" rIns="0" bIns="0" rtlCol="0" anchor="t"/>
          <a:lstStyle/>
          <a:p>
            <a:pPr indent="0" marL="0">
              <a:lnSpc>
                <a:spcPct val="100000"/>
              </a:lnSpc>
              <a:buNone/>
            </a:pPr>
            <a:r>
              <a:rPr lang="en-US" sz="1050" dirty="0">
                <a:solidFill>
                  <a:srgbClr val="5C6A86"/>
                </a:solidFill>
                <a:latin typeface="Calibri" pitchFamily="34" charset="0"/>
                <a:ea typeface="Calibri" pitchFamily="34" charset="-122"/>
                <a:cs typeface="Calibri" pitchFamily="34" charset="-120"/>
              </a:rPr>
              <a:t>Diurutkan by SoV, sentimen, dan engagement quality.</a:t>
            </a:r>
            <a:endParaRPr lang="en-US" sz="1050" dirty="0"/>
          </a:p>
        </p:txBody>
      </p:sp>
      <p:sp>
        <p:nvSpPr>
          <p:cNvPr id="12" name="Shape 7"/>
          <p:cNvSpPr/>
          <p:nvPr/>
        </p:nvSpPr>
        <p:spPr>
          <a:xfrm>
            <a:off x="640080" y="3867912"/>
            <a:ext cx="5029200" cy="786384"/>
          </a:xfrm>
          <a:prstGeom prst="roundRect">
            <a:avLst>
              <a:gd name="adj" fmla="val 1046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3" name="Shape 8"/>
          <p:cNvSpPr/>
          <p:nvPr/>
        </p:nvSpPr>
        <p:spPr>
          <a:xfrm>
            <a:off x="841248" y="4041648"/>
            <a:ext cx="438912" cy="438912"/>
          </a:xfrm>
          <a:prstGeom prst="roundRect">
            <a:avLst>
              <a:gd name="adj" fmla="val 16667"/>
            </a:avLst>
          </a:prstGeom>
          <a:solidFill>
            <a:srgbClr val="0E2A6B"/>
          </a:solidFill>
          <a:ln/>
          <a:effectLst>
            <a:outerShdw sx="100000" sy="100000" kx="0" ky="0" algn="bl" rotWithShape="0" blurRad="88900" dist="25400" dir="5400000">
              <a:srgbClr val="000000">
                <a:alpha val="10000"/>
              </a:srgbClr>
            </a:outerShdw>
          </a:effectLst>
        </p:spPr>
      </p:sp>
      <p:pic>
        <p:nvPicPr>
          <p:cNvPr id="14" name="Image 3" descr="preencoded.png">    </p:cNvPr>
          <p:cNvPicPr>
            <a:picLocks noChangeAspect="1"/>
          </p:cNvPicPr>
          <p:nvPr/>
        </p:nvPicPr>
        <p:blipFill>
          <a:blip r:embed="rId4"/>
          <a:stretch>
            <a:fillRect/>
          </a:stretch>
        </p:blipFill>
        <p:spPr>
          <a:xfrm>
            <a:off x="893917" y="4094317"/>
            <a:ext cx="333573" cy="333573"/>
          </a:xfrm>
          <a:prstGeom prst="rect">
            <a:avLst/>
          </a:prstGeom>
        </p:spPr>
      </p:pic>
      <p:sp>
        <p:nvSpPr>
          <p:cNvPr id="15" name="Text 9"/>
          <p:cNvSpPr/>
          <p:nvPr/>
        </p:nvSpPr>
        <p:spPr>
          <a:xfrm>
            <a:off x="1481328" y="3977640"/>
            <a:ext cx="4023360" cy="310896"/>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Resonansi Sejati vs Dorongan Brand</a:t>
            </a:r>
            <a:endParaRPr lang="en-US" sz="1300" dirty="0"/>
          </a:p>
        </p:txBody>
      </p:sp>
      <p:sp>
        <p:nvSpPr>
          <p:cNvPr id="16" name="Text 10"/>
          <p:cNvSpPr/>
          <p:nvPr/>
        </p:nvSpPr>
        <p:spPr>
          <a:xfrm>
            <a:off x="1481328" y="4270248"/>
            <a:ext cx="4023360" cy="329184"/>
          </a:xfrm>
          <a:prstGeom prst="rect">
            <a:avLst/>
          </a:prstGeom>
          <a:noFill/>
          <a:ln/>
        </p:spPr>
        <p:txBody>
          <a:bodyPr wrap="square" lIns="0" tIns="0" rIns="0" bIns="0" rtlCol="0" anchor="t"/>
          <a:lstStyle/>
          <a:p>
            <a:pPr indent="0" marL="0">
              <a:lnSpc>
                <a:spcPct val="100000"/>
              </a:lnSpc>
              <a:buNone/>
            </a:pPr>
            <a:r>
              <a:rPr lang="en-US" sz="1050" dirty="0">
                <a:solidFill>
                  <a:srgbClr val="5C6A86"/>
                </a:solidFill>
                <a:latin typeface="Calibri" pitchFamily="34" charset="0"/>
                <a:ea typeface="Calibri" pitchFamily="34" charset="-122"/>
                <a:cs typeface="Calibri" pitchFamily="34" charset="-120"/>
              </a:rPr>
              <a:t>Memisahkan percakapan official account dari organik.</a:t>
            </a:r>
            <a:endParaRPr lang="en-US" sz="1050" dirty="0"/>
          </a:p>
        </p:txBody>
      </p:sp>
      <p:sp>
        <p:nvSpPr>
          <p:cNvPr id="17" name="Shape 11"/>
          <p:cNvSpPr/>
          <p:nvPr/>
        </p:nvSpPr>
        <p:spPr>
          <a:xfrm>
            <a:off x="640080" y="4764024"/>
            <a:ext cx="5029200" cy="786384"/>
          </a:xfrm>
          <a:prstGeom prst="roundRect">
            <a:avLst>
              <a:gd name="adj" fmla="val 1046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8" name="Shape 12"/>
          <p:cNvSpPr/>
          <p:nvPr/>
        </p:nvSpPr>
        <p:spPr>
          <a:xfrm>
            <a:off x="841248" y="4937760"/>
            <a:ext cx="438912" cy="438912"/>
          </a:xfrm>
          <a:prstGeom prst="roundRect">
            <a:avLst>
              <a:gd name="adj" fmla="val 16667"/>
            </a:avLst>
          </a:prstGeom>
          <a:solidFill>
            <a:srgbClr val="0E2A6B"/>
          </a:solidFill>
          <a:ln/>
          <a:effectLst>
            <a:outerShdw sx="100000" sy="100000" kx="0" ky="0" algn="bl" rotWithShape="0" blurRad="88900" dist="25400" dir="5400000">
              <a:srgbClr val="000000">
                <a:alpha val="10000"/>
              </a:srgbClr>
            </a:outerShdw>
          </a:effectLst>
        </p:spPr>
      </p:sp>
      <p:pic>
        <p:nvPicPr>
          <p:cNvPr id="19" name="Image 4" descr="preencoded.png">    </p:cNvPr>
          <p:cNvPicPr>
            <a:picLocks noChangeAspect="1"/>
          </p:cNvPicPr>
          <p:nvPr/>
        </p:nvPicPr>
        <p:blipFill>
          <a:blip r:embed="rId5"/>
          <a:stretch>
            <a:fillRect/>
          </a:stretch>
        </p:blipFill>
        <p:spPr>
          <a:xfrm>
            <a:off x="893917" y="4990429"/>
            <a:ext cx="333573" cy="333573"/>
          </a:xfrm>
          <a:prstGeom prst="rect">
            <a:avLst/>
          </a:prstGeom>
        </p:spPr>
      </p:pic>
      <p:sp>
        <p:nvSpPr>
          <p:cNvPr id="20" name="Text 13"/>
          <p:cNvSpPr/>
          <p:nvPr/>
        </p:nvSpPr>
        <p:spPr>
          <a:xfrm>
            <a:off x="1481328" y="4873752"/>
            <a:ext cx="4023360" cy="310896"/>
          </a:xfrm>
          <a:prstGeom prst="rect">
            <a:avLst/>
          </a:prstGeom>
          <a:noFill/>
          <a:ln/>
        </p:spPr>
        <p:txBody>
          <a:bodyPr wrap="square" lIns="0" tIns="0" rIns="0" bIns="0" rtlCol="0" anchor="ctr"/>
          <a:lstStyle/>
          <a:p>
            <a:pPr indent="0" marL="0">
              <a:buNone/>
            </a:pPr>
            <a:r>
              <a:rPr lang="en-US" sz="1300" b="1" dirty="0">
                <a:solidFill>
                  <a:srgbClr val="16203A"/>
                </a:solidFill>
                <a:latin typeface="Calibri" pitchFamily="34" charset="0"/>
                <a:ea typeface="Calibri" pitchFamily="34" charset="-122"/>
                <a:cs typeface="Calibri" pitchFamily="34" charset="-120"/>
              </a:rPr>
              <a:t>Posisi vs Kompetitor, Real-Time</a:t>
            </a:r>
            <a:endParaRPr lang="en-US" sz="1300" dirty="0"/>
          </a:p>
        </p:txBody>
      </p:sp>
      <p:sp>
        <p:nvSpPr>
          <p:cNvPr id="21" name="Text 14"/>
          <p:cNvSpPr/>
          <p:nvPr/>
        </p:nvSpPr>
        <p:spPr>
          <a:xfrm>
            <a:off x="1481328" y="5166360"/>
            <a:ext cx="4023360" cy="329184"/>
          </a:xfrm>
          <a:prstGeom prst="rect">
            <a:avLst/>
          </a:prstGeom>
          <a:noFill/>
          <a:ln/>
        </p:spPr>
        <p:txBody>
          <a:bodyPr wrap="square" lIns="0" tIns="0" rIns="0" bIns="0" rtlCol="0" anchor="t"/>
          <a:lstStyle/>
          <a:p>
            <a:pPr indent="0" marL="0">
              <a:lnSpc>
                <a:spcPct val="100000"/>
              </a:lnSpc>
              <a:buNone/>
            </a:pPr>
            <a:r>
              <a:rPr lang="en-US" sz="1050" dirty="0">
                <a:solidFill>
                  <a:srgbClr val="5C6A86"/>
                </a:solidFill>
                <a:latin typeface="Calibri" pitchFamily="34" charset="0"/>
                <a:ea typeface="Calibri" pitchFamily="34" charset="-122"/>
                <a:cs typeface="Calibri" pitchFamily="34" charset="-120"/>
              </a:rPr>
              <a:t>Benchmark vs Aqua, Aquviva, Nestlé Pure Life, enam platform.</a:t>
            </a:r>
            <a:endParaRPr lang="en-US" sz="1050" dirty="0"/>
          </a:p>
        </p:txBody>
      </p:sp>
      <p:sp>
        <p:nvSpPr>
          <p:cNvPr id="22" name="Shape 15"/>
          <p:cNvSpPr/>
          <p:nvPr/>
        </p:nvSpPr>
        <p:spPr>
          <a:xfrm>
            <a:off x="5989320" y="2971800"/>
            <a:ext cx="5577840" cy="2743200"/>
          </a:xfrm>
          <a:prstGeom prst="roundRect">
            <a:avLst>
              <a:gd name="adj" fmla="val 2000"/>
            </a:avLst>
          </a:prstGeom>
          <a:solidFill>
            <a:srgbClr val="E4F1FB"/>
          </a:solidFill>
          <a:ln w="15875">
            <a:solidFill>
              <a:srgbClr val="1E78C8"/>
            </a:solidFill>
            <a:prstDash val="dash"/>
          </a:ln>
        </p:spPr>
      </p:sp>
      <p:pic>
        <p:nvPicPr>
          <p:cNvPr id="23" name="Image 5" descr="preencoded.png">    </p:cNvPr>
          <p:cNvPicPr>
            <a:picLocks noChangeAspect="1"/>
          </p:cNvPicPr>
          <p:nvPr/>
        </p:nvPicPr>
        <p:blipFill>
          <a:blip r:embed="rId6"/>
          <a:stretch>
            <a:fillRect/>
          </a:stretch>
        </p:blipFill>
        <p:spPr>
          <a:xfrm>
            <a:off x="8577072" y="3154680"/>
            <a:ext cx="402336" cy="402336"/>
          </a:xfrm>
          <a:prstGeom prst="rect">
            <a:avLst/>
          </a:prstGeom>
        </p:spPr>
      </p:pic>
      <p:sp>
        <p:nvSpPr>
          <p:cNvPr id="24" name="Text 16"/>
          <p:cNvSpPr/>
          <p:nvPr/>
        </p:nvSpPr>
        <p:spPr>
          <a:xfrm>
            <a:off x="6172200" y="3575304"/>
            <a:ext cx="5212080" cy="274320"/>
          </a:xfrm>
          <a:prstGeom prst="rect">
            <a:avLst/>
          </a:prstGeom>
          <a:noFill/>
          <a:ln/>
        </p:spPr>
        <p:txBody>
          <a:bodyPr wrap="square" lIns="0" tIns="0" rIns="0" bIns="0" rtlCol="0" anchor="ctr"/>
          <a:lstStyle/>
          <a:p>
            <a:pPr algn="ctr" indent="0" marL="0">
              <a:buNone/>
            </a:pPr>
            <a:r>
              <a:rPr lang="en-US" sz="1050" b="1" spc="100" kern="0" dirty="0">
                <a:solidFill>
                  <a:srgbClr val="1E78C8"/>
                </a:solidFill>
                <a:latin typeface="Calibri" pitchFamily="34" charset="0"/>
                <a:ea typeface="Calibri" pitchFamily="34" charset="-122"/>
                <a:cs typeface="Calibri" pitchFamily="34" charset="-120"/>
              </a:rPr>
              <a:t>ILUSTRASI DIAGRAM · DASHBOARD (PLACEHOLDER)</a:t>
            </a:r>
            <a:endParaRPr lang="en-US" sz="1050" dirty="0"/>
          </a:p>
        </p:txBody>
      </p:sp>
      <p:sp>
        <p:nvSpPr>
          <p:cNvPr id="25" name="Text 17"/>
          <p:cNvSpPr/>
          <p:nvPr/>
        </p:nvSpPr>
        <p:spPr>
          <a:xfrm>
            <a:off x="6245352" y="3886200"/>
            <a:ext cx="5065776" cy="1664208"/>
          </a:xfrm>
          <a:prstGeom prst="rect">
            <a:avLst/>
          </a:prstGeom>
          <a:noFill/>
          <a:ln/>
        </p:spPr>
        <p:txBody>
          <a:bodyPr wrap="square" lIns="0" tIns="0" rIns="0" bIns="0" rtlCol="0" anchor="t"/>
          <a:lstStyle/>
          <a:p>
            <a:pPr algn="l" indent="0" marL="0">
              <a:lnSpc>
                <a:spcPct val="104000"/>
              </a:lnSpc>
              <a:buNone/>
            </a:pPr>
            <a:r>
              <a:rPr lang="en-US" sz="860" i="1" dirty="0">
                <a:solidFill>
                  <a:srgbClr val="5C6A86"/>
                </a:solidFill>
                <a:latin typeface="Courier New" pitchFamily="34" charset="0"/>
                <a:ea typeface="Courier New" pitchFamily="34" charset="-122"/>
                <a:cs typeface="Courier New" pitchFamily="34" charset="-120"/>
              </a:rPr>
              <a:t>PROMPT → GPT Image: Mockup dashboard SaaS modern platform media-intelligence 'dataxet:sonar': panel 'Narrative Effectiveness Ranking' berisi 5 narasi dengan bar chart, gauge sentimen, dan panel share-of-voice kompetitor. Palet WAJIB konsisten brand: navy #0E2A6B, biru azure #2E86C8, putih, aksen merah #E1251B seperlunya. Gaya flat UI, kartu rounded, tipografi sans bersih, selaras desain slide. Rasio 2:1 (landscape), resolusi tinggi, tanpa teks acak, tanpa logo asli.</a:t>
            </a:r>
            <a:endParaRPr lang="en-US" sz="860" dirty="0"/>
          </a:p>
        </p:txBody>
      </p:sp>
      <p:sp>
        <p:nvSpPr>
          <p:cNvPr id="26" name="Shape 18"/>
          <p:cNvSpPr/>
          <p:nvPr/>
        </p:nvSpPr>
        <p:spPr>
          <a:xfrm>
            <a:off x="640080" y="5806440"/>
            <a:ext cx="10908792" cy="566928"/>
          </a:xfrm>
          <a:prstGeom prst="roundRect">
            <a:avLst>
              <a:gd name="adj" fmla="val 9677"/>
            </a:avLst>
          </a:prstGeom>
          <a:solidFill>
            <a:srgbClr val="0E2A6B"/>
          </a:solidFill>
          <a:ln/>
        </p:spPr>
      </p:sp>
      <p:sp>
        <p:nvSpPr>
          <p:cNvPr id="27" name="Text 19"/>
          <p:cNvSpPr/>
          <p:nvPr/>
        </p:nvSpPr>
        <p:spPr>
          <a:xfrm>
            <a:off x="914400" y="5806440"/>
            <a:ext cx="10360152" cy="566928"/>
          </a:xfrm>
          <a:prstGeom prst="rect">
            <a:avLst/>
          </a:prstGeom>
          <a:noFill/>
          <a:ln/>
        </p:spPr>
        <p:txBody>
          <a:bodyPr wrap="square" lIns="0" tIns="0" rIns="0" bIns="0" rtlCol="0" anchor="ctr"/>
          <a:lstStyle/>
          <a:p>
            <a:pPr algn="l" indent="0" marL="0">
              <a:buNone/>
            </a:pPr>
            <a:r>
              <a:rPr lang="en-US" sz="1250" i="1" dirty="0">
                <a:solidFill>
                  <a:srgbClr val="FFFFFF"/>
                </a:solidFill>
                <a:latin typeface="Calibri" pitchFamily="34" charset="0"/>
                <a:ea typeface="Calibri" pitchFamily="34" charset="-122"/>
                <a:cs typeface="Calibri" pitchFamily="34" charset="-120"/>
              </a:rPr>
              <a:t>Dari percakapan, ke peringkat narasi, ke keputusan komunikasi campaign berikutnya.</a:t>
            </a:r>
            <a:endParaRPr lang="en-US" sz="1250" dirty="0"/>
          </a:p>
        </p:txBody>
      </p:sp>
      <p:sp>
        <p:nvSpPr>
          <p:cNvPr id="28" name="Text 20"/>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850" dirty="0">
                <a:solidFill>
                  <a:srgbClr val="5C6A86"/>
                </a:solidFill>
                <a:latin typeface="Calibri" pitchFamily="34" charset="0"/>
                <a:ea typeface="Calibri" pitchFamily="34" charset="-122"/>
                <a:cs typeface="Calibri" pitchFamily="34" charset="-120"/>
              </a:rPr>
              <a:t>CONFIDENTIAL · Le Minerale × dataxet:sonar</a:t>
            </a:r>
            <a:endParaRPr lang="en-US" sz="850" dirty="0"/>
          </a:p>
        </p:txBody>
      </p:sp>
      <p:sp>
        <p:nvSpPr>
          <p:cNvPr id="29" name="Text 21"/>
          <p:cNvSpPr/>
          <p:nvPr/>
        </p:nvSpPr>
        <p:spPr>
          <a:xfrm>
            <a:off x="10451592" y="6400800"/>
            <a:ext cx="1097280" cy="274320"/>
          </a:xfrm>
          <a:prstGeom prst="rect">
            <a:avLst/>
          </a:prstGeom>
          <a:noFill/>
          <a:ln/>
        </p:spPr>
        <p:txBody>
          <a:bodyPr wrap="square" lIns="0" tIns="0" rIns="0" bIns="0" rtlCol="0" anchor="ctr"/>
          <a:lstStyle/>
          <a:p>
            <a:pPr algn="r" indent="0" marL="0">
              <a:buNone/>
            </a:pPr>
            <a:r>
              <a:rPr lang="en-US" sz="900" dirty="0">
                <a:solidFill>
                  <a:srgbClr val="5C6A86"/>
                </a:solidFill>
                <a:latin typeface="Calibri" pitchFamily="34" charset="0"/>
                <a:ea typeface="Calibri" pitchFamily="34" charset="-122"/>
                <a:cs typeface="Calibri" pitchFamily="34" charset="-120"/>
              </a:rPr>
              <a:t>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8FD"/>
        </a:solidFill>
      </p:bgPr>
    </p:bg>
    <p:spTree>
      <p:nvGrpSpPr>
        <p:cNvPr id="1" name=""/>
        <p:cNvGrpSpPr/>
        <p:nvPr/>
      </p:nvGrpSpPr>
      <p:grpSpPr>
        <a:xfrm>
          <a:off x="0" y="0"/>
          <a:ext cx="0" cy="0"/>
          <a:chOff x="0" y="0"/>
          <a:chExt cx="0" cy="0"/>
        </a:xfrm>
      </p:grpSpPr>
      <p:pic>
        <p:nvPicPr>
          <p:cNvPr id="2"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3"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4" name="Text 0"/>
          <p:cNvSpPr/>
          <p:nvPr/>
        </p:nvSpPr>
        <p:spPr>
          <a:xfrm>
            <a:off x="640080" y="932688"/>
            <a:ext cx="6400800" cy="310896"/>
          </a:xfrm>
          <a:prstGeom prst="rect">
            <a:avLst/>
          </a:prstGeom>
          <a:noFill/>
          <a:ln/>
        </p:spPr>
        <p:txBody>
          <a:bodyPr wrap="square" lIns="0" tIns="0" rIns="0" bIns="0" rtlCol="0" anchor="ctr"/>
          <a:lstStyle/>
          <a:p>
            <a:pPr algn="l" indent="0" marL="0">
              <a:buNone/>
            </a:pPr>
            <a:r>
              <a:rPr lang="en-US" sz="1250" b="1" spc="300" kern="0" dirty="0">
                <a:solidFill>
                  <a:srgbClr val="2E86C8"/>
                </a:solidFill>
                <a:latin typeface="Calibri" pitchFamily="34" charset="0"/>
                <a:ea typeface="Calibri" pitchFamily="34" charset="-122"/>
                <a:cs typeface="Calibri" pitchFamily="34" charset="-120"/>
              </a:rPr>
              <a:t>PREVIEW DEMO</a:t>
            </a:r>
            <a:endParaRPr lang="en-US" sz="1250" dirty="0"/>
          </a:p>
        </p:txBody>
      </p:sp>
      <p:sp>
        <p:nvSpPr>
          <p:cNvPr id="5" name="Text 1"/>
          <p:cNvSpPr/>
          <p:nvPr/>
        </p:nvSpPr>
        <p:spPr>
          <a:xfrm>
            <a:off x="640080" y="1298448"/>
            <a:ext cx="10908792" cy="1024128"/>
          </a:xfrm>
          <a:prstGeom prst="rect">
            <a:avLst/>
          </a:prstGeom>
          <a:noFill/>
          <a:ln/>
        </p:spPr>
        <p:txBody>
          <a:bodyPr wrap="square" lIns="0" tIns="0" rIns="0" bIns="0" rtlCol="0" anchor="t"/>
          <a:lstStyle/>
          <a:p>
            <a:pPr algn="l" indent="0" marL="0">
              <a:lnSpc>
                <a:spcPct val="100000"/>
              </a:lnSpc>
              <a:buNone/>
            </a:pPr>
            <a:r>
              <a:rPr lang="en-US" sz="2350" b="1" dirty="0">
                <a:solidFill>
                  <a:srgbClr val="0E2A6B"/>
                </a:solidFill>
                <a:latin typeface="Cambria" pitchFamily="34" charset="0"/>
                <a:ea typeface="Cambria" pitchFamily="34" charset="-122"/>
                <a:cs typeface="Cambria" pitchFamily="34" charset="-120"/>
              </a:rPr>
              <a:t>Buktinya Memakai Brand, Kompetitor, dan Event Anda. Bukan Simulasi.</a:t>
            </a:r>
            <a:endParaRPr lang="en-US" sz="2350" dirty="0"/>
          </a:p>
        </p:txBody>
      </p:sp>
      <p:sp>
        <p:nvSpPr>
          <p:cNvPr id="6" name="Text 2"/>
          <p:cNvSpPr/>
          <p:nvPr/>
        </p:nvSpPr>
        <p:spPr>
          <a:xfrm>
            <a:off x="640080" y="2286000"/>
            <a:ext cx="10908792" cy="640080"/>
          </a:xfrm>
          <a:prstGeom prst="rect">
            <a:avLst/>
          </a:prstGeom>
          <a:noFill/>
          <a:ln/>
        </p:spPr>
        <p:txBody>
          <a:bodyPr wrap="square" lIns="0" tIns="0" rIns="0" bIns="0" rtlCol="0" anchor="t"/>
          <a:lstStyle/>
          <a:p>
            <a:pPr algn="l" indent="0" marL="0">
              <a:lnSpc>
                <a:spcPct val="105000"/>
              </a:lnSpc>
              <a:buNone/>
            </a:pPr>
            <a:r>
              <a:rPr lang="en-US" sz="1350" dirty="0">
                <a:solidFill>
                  <a:srgbClr val="5C6A86"/>
                </a:solidFill>
                <a:latin typeface="Calibri" pitchFamily="34" charset="0"/>
                <a:ea typeface="Calibri" pitchFamily="34" charset="-122"/>
                <a:cs typeface="Calibri" pitchFamily="34" charset="-120"/>
              </a:rPr>
              <a:t>Tiga momen yang akan Anda kenali langsung: narasi yang membedakan sekaligus rawan, sponsorship yang bisa diangkakan, dan pesaing baru yang diam-diam tumbuh.</a:t>
            </a:r>
            <a:endParaRPr lang="en-US" sz="1350" dirty="0"/>
          </a:p>
        </p:txBody>
      </p:sp>
      <p:sp>
        <p:nvSpPr>
          <p:cNvPr id="7" name="Shape 3"/>
          <p:cNvSpPr/>
          <p:nvPr/>
        </p:nvSpPr>
        <p:spPr>
          <a:xfrm>
            <a:off x="640080" y="2788920"/>
            <a:ext cx="3511296" cy="2880360"/>
          </a:xfrm>
          <a:prstGeom prst="roundRect">
            <a:avLst>
              <a:gd name="adj" fmla="val 317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8" name="Shape 4"/>
          <p:cNvSpPr/>
          <p:nvPr/>
        </p:nvSpPr>
        <p:spPr>
          <a:xfrm>
            <a:off x="841248" y="2990088"/>
            <a:ext cx="3108960" cy="1280160"/>
          </a:xfrm>
          <a:prstGeom prst="roundRect">
            <a:avLst>
              <a:gd name="adj" fmla="val 4286"/>
            </a:avLst>
          </a:prstGeom>
          <a:solidFill>
            <a:srgbClr val="E4F1FB"/>
          </a:solidFill>
          <a:ln w="15875">
            <a:solidFill>
              <a:srgbClr val="1E78C8"/>
            </a:solidFill>
            <a:prstDash val="dash"/>
          </a:ln>
        </p:spPr>
      </p:sp>
      <p:pic>
        <p:nvPicPr>
          <p:cNvPr id="9" name="Image 2" descr="preencoded.png">    </p:cNvPr>
          <p:cNvPicPr>
            <a:picLocks noChangeAspect="1"/>
          </p:cNvPicPr>
          <p:nvPr/>
        </p:nvPicPr>
        <p:blipFill>
          <a:blip r:embed="rId3"/>
          <a:stretch>
            <a:fillRect/>
          </a:stretch>
        </p:blipFill>
        <p:spPr>
          <a:xfrm>
            <a:off x="2194560" y="3172968"/>
            <a:ext cx="402336" cy="402336"/>
          </a:xfrm>
          <a:prstGeom prst="rect">
            <a:avLst/>
          </a:prstGeom>
        </p:spPr>
      </p:pic>
      <p:sp>
        <p:nvSpPr>
          <p:cNvPr id="10" name="Text 5"/>
          <p:cNvSpPr/>
          <p:nvPr/>
        </p:nvSpPr>
        <p:spPr>
          <a:xfrm>
            <a:off x="1024128" y="3593592"/>
            <a:ext cx="2743200" cy="274320"/>
          </a:xfrm>
          <a:prstGeom prst="rect">
            <a:avLst/>
          </a:prstGeom>
          <a:noFill/>
          <a:ln/>
        </p:spPr>
        <p:txBody>
          <a:bodyPr wrap="square" lIns="0" tIns="0" rIns="0" bIns="0" rtlCol="0" anchor="ctr"/>
          <a:lstStyle/>
          <a:p>
            <a:pPr algn="ctr" indent="0" marL="0">
              <a:buNone/>
            </a:pPr>
            <a:r>
              <a:rPr lang="en-US" sz="1050" b="1" spc="100" kern="0" dirty="0">
                <a:solidFill>
                  <a:srgbClr val="1E78C8"/>
                </a:solidFill>
                <a:latin typeface="Calibri" pitchFamily="34" charset="0"/>
                <a:ea typeface="Calibri" pitchFamily="34" charset="-122"/>
                <a:cs typeface="Calibri" pitchFamily="34" charset="-120"/>
              </a:rPr>
              <a:t>SCREENSHOT POST SOSMED</a:t>
            </a:r>
            <a:endParaRPr lang="en-US" sz="1050" dirty="0"/>
          </a:p>
        </p:txBody>
      </p:sp>
      <p:sp>
        <p:nvSpPr>
          <p:cNvPr id="11" name="Text 6"/>
          <p:cNvSpPr/>
          <p:nvPr/>
        </p:nvSpPr>
        <p:spPr>
          <a:xfrm>
            <a:off x="914400" y="4379976"/>
            <a:ext cx="2962656" cy="384048"/>
          </a:xfrm>
          <a:prstGeom prst="rect">
            <a:avLst/>
          </a:prstGeom>
          <a:noFill/>
          <a:ln/>
        </p:spPr>
        <p:txBody>
          <a:bodyPr wrap="square" lIns="0" tIns="0" rIns="0" bIns="0" rtlCol="0" anchor="ctr"/>
          <a:lstStyle/>
          <a:p>
            <a:pPr indent="0" marL="0">
              <a:lnSpc>
                <a:spcPct val="100000"/>
              </a:lnSpc>
              <a:buNone/>
            </a:pPr>
            <a:r>
              <a:rPr lang="en-US" sz="1350" b="1" dirty="0">
                <a:solidFill>
                  <a:srgbClr val="16203A"/>
                </a:solidFill>
                <a:latin typeface="Calibri" pitchFamily="34" charset="0"/>
                <a:ea typeface="Calibri" pitchFamily="34" charset="-122"/>
                <a:cs typeface="Calibri" pitchFamily="34" charset="-120"/>
              </a:rPr>
              <a:t>BPA Free: Pedang Bermata Dua</a:t>
            </a:r>
            <a:endParaRPr lang="en-US" sz="1350" dirty="0"/>
          </a:p>
        </p:txBody>
      </p:sp>
      <p:sp>
        <p:nvSpPr>
          <p:cNvPr id="12" name="Text 7"/>
          <p:cNvSpPr/>
          <p:nvPr/>
        </p:nvSpPr>
        <p:spPr>
          <a:xfrm>
            <a:off x="914400" y="4782312"/>
            <a:ext cx="2962656" cy="777240"/>
          </a:xfrm>
          <a:prstGeom prst="rect">
            <a:avLst/>
          </a:prstGeom>
          <a:noFill/>
          <a:ln/>
        </p:spPr>
        <p:txBody>
          <a:bodyPr wrap="square" lIns="0" tIns="0" rIns="0" bIns="0" rtlCol="0" anchor="ctr"/>
          <a:lstStyle/>
          <a:p>
            <a:pPr indent="0" marL="0">
              <a:lnSpc>
                <a:spcPct val="104000"/>
              </a:lnSpc>
              <a:buNone/>
            </a:pPr>
            <a:r>
              <a:rPr lang="en-US" sz="1050" dirty="0">
                <a:solidFill>
                  <a:srgbClr val="5C6A86"/>
                </a:solidFill>
                <a:latin typeface="Calibri" pitchFamily="34" charset="0"/>
                <a:ea typeface="Calibri" pitchFamily="34" charset="-122"/>
                <a:cs typeface="Calibri" pitchFamily="34" charset="-120"/>
              </a:rPr>
              <a:t>Paling membedakan dari Aqua sekaligus paling perlu dijaga. Lihat sentiment breakdown real-time.</a:t>
            </a:r>
            <a:endParaRPr lang="en-US" sz="1050" dirty="0"/>
          </a:p>
        </p:txBody>
      </p:sp>
      <p:sp>
        <p:nvSpPr>
          <p:cNvPr id="13" name="Shape 8"/>
          <p:cNvSpPr/>
          <p:nvPr/>
        </p:nvSpPr>
        <p:spPr>
          <a:xfrm>
            <a:off x="4398264" y="2788920"/>
            <a:ext cx="3511296" cy="2880360"/>
          </a:xfrm>
          <a:prstGeom prst="roundRect">
            <a:avLst>
              <a:gd name="adj" fmla="val 317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4" name="Shape 9"/>
          <p:cNvSpPr/>
          <p:nvPr/>
        </p:nvSpPr>
        <p:spPr>
          <a:xfrm>
            <a:off x="4599432" y="2990088"/>
            <a:ext cx="3108960" cy="1280160"/>
          </a:xfrm>
          <a:prstGeom prst="roundRect">
            <a:avLst>
              <a:gd name="adj" fmla="val 4286"/>
            </a:avLst>
          </a:prstGeom>
          <a:solidFill>
            <a:srgbClr val="E4F1FB"/>
          </a:solidFill>
          <a:ln w="15875">
            <a:solidFill>
              <a:srgbClr val="1E78C8"/>
            </a:solidFill>
            <a:prstDash val="dash"/>
          </a:ln>
        </p:spPr>
      </p:sp>
      <p:pic>
        <p:nvPicPr>
          <p:cNvPr id="15" name="Image 3" descr="preencoded.png">    </p:cNvPr>
          <p:cNvPicPr>
            <a:picLocks noChangeAspect="1"/>
          </p:cNvPicPr>
          <p:nvPr/>
        </p:nvPicPr>
        <p:blipFill>
          <a:blip r:embed="rId4"/>
          <a:stretch>
            <a:fillRect/>
          </a:stretch>
        </p:blipFill>
        <p:spPr>
          <a:xfrm>
            <a:off x="5952744" y="3172968"/>
            <a:ext cx="402336" cy="402336"/>
          </a:xfrm>
          <a:prstGeom prst="rect">
            <a:avLst/>
          </a:prstGeom>
        </p:spPr>
      </p:pic>
      <p:sp>
        <p:nvSpPr>
          <p:cNvPr id="16" name="Text 10"/>
          <p:cNvSpPr/>
          <p:nvPr/>
        </p:nvSpPr>
        <p:spPr>
          <a:xfrm>
            <a:off x="4782312" y="3593592"/>
            <a:ext cx="2743200" cy="274320"/>
          </a:xfrm>
          <a:prstGeom prst="rect">
            <a:avLst/>
          </a:prstGeom>
          <a:noFill/>
          <a:ln/>
        </p:spPr>
        <p:txBody>
          <a:bodyPr wrap="square" lIns="0" tIns="0" rIns="0" bIns="0" rtlCol="0" anchor="ctr"/>
          <a:lstStyle/>
          <a:p>
            <a:pPr algn="ctr" indent="0" marL="0">
              <a:buNone/>
            </a:pPr>
            <a:r>
              <a:rPr lang="en-US" sz="1050" b="1" spc="100" kern="0" dirty="0">
                <a:solidFill>
                  <a:srgbClr val="1E78C8"/>
                </a:solidFill>
                <a:latin typeface="Calibri" pitchFamily="34" charset="0"/>
                <a:ea typeface="Calibri" pitchFamily="34" charset="-122"/>
                <a:cs typeface="Calibri" pitchFamily="34" charset="-120"/>
              </a:rPr>
              <a:t>SCREENSHOT POST SOSMED</a:t>
            </a:r>
            <a:endParaRPr lang="en-US" sz="1050" dirty="0"/>
          </a:p>
        </p:txBody>
      </p:sp>
      <p:sp>
        <p:nvSpPr>
          <p:cNvPr id="17" name="Text 11"/>
          <p:cNvSpPr/>
          <p:nvPr/>
        </p:nvSpPr>
        <p:spPr>
          <a:xfrm>
            <a:off x="4672584" y="4379976"/>
            <a:ext cx="2962656" cy="384048"/>
          </a:xfrm>
          <a:prstGeom prst="rect">
            <a:avLst/>
          </a:prstGeom>
          <a:noFill/>
          <a:ln/>
        </p:spPr>
        <p:txBody>
          <a:bodyPr wrap="square" lIns="0" tIns="0" rIns="0" bIns="0" rtlCol="0" anchor="ctr"/>
          <a:lstStyle/>
          <a:p>
            <a:pPr indent="0" marL="0">
              <a:lnSpc>
                <a:spcPct val="100000"/>
              </a:lnSpc>
              <a:buNone/>
            </a:pPr>
            <a:r>
              <a:rPr lang="en-US" sz="1350" b="1" dirty="0">
                <a:solidFill>
                  <a:srgbClr val="16203A"/>
                </a:solidFill>
                <a:latin typeface="Calibri" pitchFamily="34" charset="0"/>
                <a:ea typeface="Calibri" pitchFamily="34" charset="-122"/>
                <a:cs typeface="Calibri" pitchFamily="34" charset="-120"/>
              </a:rPr>
              <a:t>Sponsorship Bisa Diangkakan</a:t>
            </a:r>
            <a:endParaRPr lang="en-US" sz="1350" dirty="0"/>
          </a:p>
        </p:txBody>
      </p:sp>
      <p:sp>
        <p:nvSpPr>
          <p:cNvPr id="18" name="Text 12"/>
          <p:cNvSpPr/>
          <p:nvPr/>
        </p:nvSpPr>
        <p:spPr>
          <a:xfrm>
            <a:off x="4672584" y="4782312"/>
            <a:ext cx="2962656" cy="777240"/>
          </a:xfrm>
          <a:prstGeom prst="rect">
            <a:avLst/>
          </a:prstGeom>
          <a:noFill/>
          <a:ln/>
        </p:spPr>
        <p:txBody>
          <a:bodyPr wrap="square" lIns="0" tIns="0" rIns="0" bIns="0" rtlCol="0" anchor="ctr"/>
          <a:lstStyle/>
          <a:p>
            <a:pPr indent="0" marL="0">
              <a:lnSpc>
                <a:spcPct val="104000"/>
              </a:lnSpc>
              <a:buNone/>
            </a:pPr>
            <a:r>
              <a:rPr lang="en-US" sz="1050" dirty="0">
                <a:solidFill>
                  <a:srgbClr val="5C6A86"/>
                </a:solidFill>
                <a:latin typeface="Calibri" pitchFamily="34" charset="0"/>
                <a:ea typeface="Calibri" pitchFamily="34" charset="-122"/>
                <a:cs typeface="Calibri" pitchFamily="34" charset="-120"/>
              </a:rPr>
              <a:t>Lonjakan percakapan active lifestyle seputar JRF/JAKIM. Eksposur event akhirnya punya angka dampak.</a:t>
            </a:r>
            <a:endParaRPr lang="en-US" sz="1050" dirty="0"/>
          </a:p>
        </p:txBody>
      </p:sp>
      <p:sp>
        <p:nvSpPr>
          <p:cNvPr id="19" name="Shape 13"/>
          <p:cNvSpPr/>
          <p:nvPr/>
        </p:nvSpPr>
        <p:spPr>
          <a:xfrm>
            <a:off x="8156448" y="2788920"/>
            <a:ext cx="3511296" cy="2880360"/>
          </a:xfrm>
          <a:prstGeom prst="roundRect">
            <a:avLst>
              <a:gd name="adj" fmla="val 3175"/>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20" name="Shape 14"/>
          <p:cNvSpPr/>
          <p:nvPr/>
        </p:nvSpPr>
        <p:spPr>
          <a:xfrm>
            <a:off x="8357616" y="2990088"/>
            <a:ext cx="3108960" cy="1280160"/>
          </a:xfrm>
          <a:prstGeom prst="roundRect">
            <a:avLst>
              <a:gd name="adj" fmla="val 4286"/>
            </a:avLst>
          </a:prstGeom>
          <a:solidFill>
            <a:srgbClr val="E4F1FB"/>
          </a:solidFill>
          <a:ln w="15875">
            <a:solidFill>
              <a:srgbClr val="1E78C8"/>
            </a:solidFill>
            <a:prstDash val="dash"/>
          </a:ln>
        </p:spPr>
      </p:sp>
      <p:pic>
        <p:nvPicPr>
          <p:cNvPr id="21" name="Image 4" descr="preencoded.png">    </p:cNvPr>
          <p:cNvPicPr>
            <a:picLocks noChangeAspect="1"/>
          </p:cNvPicPr>
          <p:nvPr/>
        </p:nvPicPr>
        <p:blipFill>
          <a:blip r:embed="rId5"/>
          <a:stretch>
            <a:fillRect/>
          </a:stretch>
        </p:blipFill>
        <p:spPr>
          <a:xfrm>
            <a:off x="9710928" y="3172968"/>
            <a:ext cx="402336" cy="402336"/>
          </a:xfrm>
          <a:prstGeom prst="rect">
            <a:avLst/>
          </a:prstGeom>
        </p:spPr>
      </p:pic>
      <p:sp>
        <p:nvSpPr>
          <p:cNvPr id="22" name="Text 15"/>
          <p:cNvSpPr/>
          <p:nvPr/>
        </p:nvSpPr>
        <p:spPr>
          <a:xfrm>
            <a:off x="8540496" y="3593592"/>
            <a:ext cx="2743200" cy="274320"/>
          </a:xfrm>
          <a:prstGeom prst="rect">
            <a:avLst/>
          </a:prstGeom>
          <a:noFill/>
          <a:ln/>
        </p:spPr>
        <p:txBody>
          <a:bodyPr wrap="square" lIns="0" tIns="0" rIns="0" bIns="0" rtlCol="0" anchor="ctr"/>
          <a:lstStyle/>
          <a:p>
            <a:pPr algn="ctr" indent="0" marL="0">
              <a:buNone/>
            </a:pPr>
            <a:r>
              <a:rPr lang="en-US" sz="1050" b="1" spc="100" kern="0" dirty="0">
                <a:solidFill>
                  <a:srgbClr val="1E78C8"/>
                </a:solidFill>
                <a:latin typeface="Calibri" pitchFamily="34" charset="0"/>
                <a:ea typeface="Calibri" pitchFamily="34" charset="-122"/>
                <a:cs typeface="Calibri" pitchFamily="34" charset="-120"/>
              </a:rPr>
              <a:t>SCREENSHOT POST SOSMED</a:t>
            </a:r>
            <a:endParaRPr lang="en-US" sz="1050" dirty="0"/>
          </a:p>
        </p:txBody>
      </p:sp>
      <p:sp>
        <p:nvSpPr>
          <p:cNvPr id="23" name="Text 16"/>
          <p:cNvSpPr/>
          <p:nvPr/>
        </p:nvSpPr>
        <p:spPr>
          <a:xfrm>
            <a:off x="8430768" y="4379976"/>
            <a:ext cx="2962656" cy="384048"/>
          </a:xfrm>
          <a:prstGeom prst="rect">
            <a:avLst/>
          </a:prstGeom>
          <a:noFill/>
          <a:ln/>
        </p:spPr>
        <p:txBody>
          <a:bodyPr wrap="square" lIns="0" tIns="0" rIns="0" bIns="0" rtlCol="0" anchor="ctr"/>
          <a:lstStyle/>
          <a:p>
            <a:pPr indent="0" marL="0">
              <a:lnSpc>
                <a:spcPct val="100000"/>
              </a:lnSpc>
              <a:buNone/>
            </a:pPr>
            <a:r>
              <a:rPr lang="en-US" sz="1350" b="1" dirty="0">
                <a:solidFill>
                  <a:srgbClr val="16203A"/>
                </a:solidFill>
                <a:latin typeface="Calibri" pitchFamily="34" charset="0"/>
                <a:ea typeface="Calibri" pitchFamily="34" charset="-122"/>
                <a:cs typeface="Calibri" pitchFamily="34" charset="-120"/>
              </a:rPr>
              <a:t>Pendatang Yang Diam-Diam Tumbuh</a:t>
            </a:r>
            <a:endParaRPr lang="en-US" sz="1350" dirty="0"/>
          </a:p>
        </p:txBody>
      </p:sp>
      <p:sp>
        <p:nvSpPr>
          <p:cNvPr id="24" name="Text 17"/>
          <p:cNvSpPr/>
          <p:nvPr/>
        </p:nvSpPr>
        <p:spPr>
          <a:xfrm>
            <a:off x="8430768" y="4782312"/>
            <a:ext cx="2962656" cy="777240"/>
          </a:xfrm>
          <a:prstGeom prst="rect">
            <a:avLst/>
          </a:prstGeom>
          <a:noFill/>
          <a:ln/>
        </p:spPr>
        <p:txBody>
          <a:bodyPr wrap="square" lIns="0" tIns="0" rIns="0" bIns="0" rtlCol="0" anchor="ctr"/>
          <a:lstStyle/>
          <a:p>
            <a:pPr indent="0" marL="0">
              <a:lnSpc>
                <a:spcPct val="104000"/>
              </a:lnSpc>
              <a:buNone/>
            </a:pPr>
            <a:r>
              <a:rPr lang="en-US" sz="1050" dirty="0">
                <a:solidFill>
                  <a:srgbClr val="5C6A86"/>
                </a:solidFill>
                <a:latin typeface="Calibri" pitchFamily="34" charset="0"/>
                <a:ea typeface="Calibri" pitchFamily="34" charset="-122"/>
                <a:cs typeface="Calibri" pitchFamily="34" charset="-120"/>
              </a:rPr>
              <a:t>Share of voice Aquviva vs Le Minerale di platform audiens muda Anda, sebelum kecolongan.</a:t>
            </a:r>
            <a:endParaRPr lang="en-US" sz="1050" dirty="0"/>
          </a:p>
        </p:txBody>
      </p:sp>
      <p:sp>
        <p:nvSpPr>
          <p:cNvPr id="25" name="Shape 18"/>
          <p:cNvSpPr/>
          <p:nvPr/>
        </p:nvSpPr>
        <p:spPr>
          <a:xfrm>
            <a:off x="640080" y="5806440"/>
            <a:ext cx="10908792" cy="566928"/>
          </a:xfrm>
          <a:prstGeom prst="roundRect">
            <a:avLst>
              <a:gd name="adj" fmla="val 9677"/>
            </a:avLst>
          </a:prstGeom>
          <a:solidFill>
            <a:srgbClr val="0E2A6B"/>
          </a:solidFill>
          <a:ln/>
        </p:spPr>
      </p:sp>
      <p:sp>
        <p:nvSpPr>
          <p:cNvPr id="26" name="Text 19"/>
          <p:cNvSpPr/>
          <p:nvPr/>
        </p:nvSpPr>
        <p:spPr>
          <a:xfrm>
            <a:off x="914400" y="5806440"/>
            <a:ext cx="10360152" cy="566928"/>
          </a:xfrm>
          <a:prstGeom prst="rect">
            <a:avLst/>
          </a:prstGeom>
          <a:noFill/>
          <a:ln/>
        </p:spPr>
        <p:txBody>
          <a:bodyPr wrap="square" lIns="0" tIns="0" rIns="0" bIns="0" rtlCol="0" anchor="ctr"/>
          <a:lstStyle/>
          <a:p>
            <a:pPr algn="l" indent="0" marL="0">
              <a:buNone/>
            </a:pPr>
            <a:r>
              <a:rPr lang="en-US" sz="1250" i="1" dirty="0">
                <a:solidFill>
                  <a:srgbClr val="FFFFFF"/>
                </a:solidFill>
                <a:latin typeface="Calibri" pitchFamily="34" charset="0"/>
                <a:ea typeface="Calibri" pitchFamily="34" charset="-122"/>
                <a:cs typeface="Calibri" pitchFamily="34" charset="-120"/>
              </a:rPr>
              <a:t>Setiap insight punya post dan isu konkret pendukungnya. Evidence siap pakai, bukan angka kosong.</a:t>
            </a:r>
            <a:endParaRPr lang="en-US" sz="1250" dirty="0"/>
          </a:p>
        </p:txBody>
      </p:sp>
      <p:sp>
        <p:nvSpPr>
          <p:cNvPr id="27" name="Text 20"/>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850" dirty="0">
                <a:solidFill>
                  <a:srgbClr val="5C6A86"/>
                </a:solidFill>
                <a:latin typeface="Calibri" pitchFamily="34" charset="0"/>
                <a:ea typeface="Calibri" pitchFamily="34" charset="-122"/>
                <a:cs typeface="Calibri" pitchFamily="34" charset="-120"/>
              </a:rPr>
              <a:t>CONFIDENTIAL · Le Minerale × dataxet:sonar</a:t>
            </a:r>
            <a:endParaRPr lang="en-US" sz="850" dirty="0"/>
          </a:p>
        </p:txBody>
      </p:sp>
      <p:sp>
        <p:nvSpPr>
          <p:cNvPr id="28" name="Text 21"/>
          <p:cNvSpPr/>
          <p:nvPr/>
        </p:nvSpPr>
        <p:spPr>
          <a:xfrm>
            <a:off x="10451592" y="6400800"/>
            <a:ext cx="1097280" cy="274320"/>
          </a:xfrm>
          <a:prstGeom prst="rect">
            <a:avLst/>
          </a:prstGeom>
          <a:noFill/>
          <a:ln/>
        </p:spPr>
        <p:txBody>
          <a:bodyPr wrap="square" lIns="0" tIns="0" rIns="0" bIns="0" rtlCol="0" anchor="ctr"/>
          <a:lstStyle/>
          <a:p>
            <a:pPr algn="r" indent="0" marL="0">
              <a:buNone/>
            </a:pPr>
            <a:r>
              <a:rPr lang="en-US" sz="900" dirty="0">
                <a:solidFill>
                  <a:srgbClr val="5C6A86"/>
                </a:solidFill>
                <a:latin typeface="Calibri" pitchFamily="34" charset="0"/>
                <a:ea typeface="Calibri" pitchFamily="34" charset="-122"/>
                <a:cs typeface="Calibri" pitchFamily="34" charset="-120"/>
              </a:rPr>
              <a:t>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8FD"/>
        </a:solidFill>
      </p:bgPr>
    </p:bg>
    <p:spTree>
      <p:nvGrpSpPr>
        <p:cNvPr id="1" name=""/>
        <p:cNvGrpSpPr/>
        <p:nvPr/>
      </p:nvGrpSpPr>
      <p:grpSpPr>
        <a:xfrm>
          <a:off x="0" y="0"/>
          <a:ext cx="0" cy="0"/>
          <a:chOff x="0" y="0"/>
          <a:chExt cx="0" cy="0"/>
        </a:xfrm>
      </p:grpSpPr>
      <p:pic>
        <p:nvPicPr>
          <p:cNvPr id="2"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3"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4" name="Text 0"/>
          <p:cNvSpPr/>
          <p:nvPr/>
        </p:nvSpPr>
        <p:spPr>
          <a:xfrm>
            <a:off x="640080" y="932688"/>
            <a:ext cx="6400800" cy="310896"/>
          </a:xfrm>
          <a:prstGeom prst="rect">
            <a:avLst/>
          </a:prstGeom>
          <a:noFill/>
          <a:ln/>
        </p:spPr>
        <p:txBody>
          <a:bodyPr wrap="square" lIns="0" tIns="0" rIns="0" bIns="0" rtlCol="0" anchor="ctr"/>
          <a:lstStyle/>
          <a:p>
            <a:pPr algn="l" indent="0" marL="0">
              <a:buNone/>
            </a:pPr>
            <a:r>
              <a:rPr lang="en-US" sz="1250" b="1" spc="300" kern="0" dirty="0">
                <a:solidFill>
                  <a:srgbClr val="2E86C8"/>
                </a:solidFill>
                <a:latin typeface="Calibri" pitchFamily="34" charset="0"/>
                <a:ea typeface="Calibri" pitchFamily="34" charset="-122"/>
                <a:cs typeface="Calibri" pitchFamily="34" charset="-120"/>
              </a:rPr>
              <a:t>KENAPA SONAR</a:t>
            </a:r>
            <a:endParaRPr lang="en-US" sz="1250" dirty="0"/>
          </a:p>
        </p:txBody>
      </p:sp>
      <p:sp>
        <p:nvSpPr>
          <p:cNvPr id="5" name="Text 1"/>
          <p:cNvSpPr/>
          <p:nvPr/>
        </p:nvSpPr>
        <p:spPr>
          <a:xfrm>
            <a:off x="640080" y="1298448"/>
            <a:ext cx="10908792" cy="1024128"/>
          </a:xfrm>
          <a:prstGeom prst="rect">
            <a:avLst/>
          </a:prstGeom>
          <a:noFill/>
          <a:ln/>
        </p:spPr>
        <p:txBody>
          <a:bodyPr wrap="square" lIns="0" tIns="0" rIns="0" bIns="0" rtlCol="0" anchor="t"/>
          <a:lstStyle/>
          <a:p>
            <a:pPr algn="l" indent="0" marL="0">
              <a:lnSpc>
                <a:spcPct val="100000"/>
              </a:lnSpc>
              <a:buNone/>
            </a:pPr>
            <a:r>
              <a:rPr lang="en-US" sz="2350" b="1" dirty="0">
                <a:solidFill>
                  <a:srgbClr val="0E2A6B"/>
                </a:solidFill>
                <a:latin typeface="Cambria" pitchFamily="34" charset="0"/>
                <a:ea typeface="Cambria" pitchFamily="34" charset="-122"/>
                <a:cs typeface="Cambria" pitchFamily="34" charset="-120"/>
              </a:rPr>
              <a:t>Engine Global Membaca Bahasa. Sonar Membaca 'Eneg', 'Seger', dan TikTok Lokal Anda.</a:t>
            </a:r>
            <a:endParaRPr lang="en-US" sz="2350" dirty="0"/>
          </a:p>
        </p:txBody>
      </p:sp>
      <p:sp>
        <p:nvSpPr>
          <p:cNvPr id="6" name="Text 2"/>
          <p:cNvSpPr/>
          <p:nvPr/>
        </p:nvSpPr>
        <p:spPr>
          <a:xfrm>
            <a:off x="640080" y="2331720"/>
            <a:ext cx="10908792" cy="640080"/>
          </a:xfrm>
          <a:prstGeom prst="rect">
            <a:avLst/>
          </a:prstGeom>
          <a:noFill/>
          <a:ln/>
        </p:spPr>
        <p:txBody>
          <a:bodyPr wrap="square" lIns="0" tIns="0" rIns="0" bIns="0" rtlCol="0" anchor="t"/>
          <a:lstStyle/>
          <a:p>
            <a:pPr algn="l" indent="0" marL="0">
              <a:lnSpc>
                <a:spcPct val="105000"/>
              </a:lnSpc>
              <a:buNone/>
            </a:pPr>
            <a:r>
              <a:rPr lang="en-US" sz="1350" dirty="0">
                <a:solidFill>
                  <a:srgbClr val="5C6A86"/>
                </a:solidFill>
                <a:latin typeface="Calibri" pitchFamily="34" charset="0"/>
                <a:ea typeface="Calibri" pitchFamily="34" charset="-122"/>
                <a:cs typeface="Calibri" pitchFamily="34" charset="-120"/>
              </a:rPr>
              <a:t>Ketika sentimen penentu tersembunyi di slang Gen Z dan lahir lebih dulu di TikTok, mesin global meleset, dan laporan agency mingguan datang terlambat.</a:t>
            </a:r>
            <a:endParaRPr lang="en-US" sz="1350" dirty="0"/>
          </a:p>
        </p:txBody>
      </p:sp>
      <p:sp>
        <p:nvSpPr>
          <p:cNvPr id="7" name="Shape 3"/>
          <p:cNvSpPr/>
          <p:nvPr/>
        </p:nvSpPr>
        <p:spPr>
          <a:xfrm>
            <a:off x="640080" y="2971800"/>
            <a:ext cx="3511296" cy="2194560"/>
          </a:xfrm>
          <a:prstGeom prst="roundRect">
            <a:avLst>
              <a:gd name="adj" fmla="val 4167"/>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8" name="Shape 4"/>
          <p:cNvSpPr/>
          <p:nvPr/>
        </p:nvSpPr>
        <p:spPr>
          <a:xfrm>
            <a:off x="914400" y="3246120"/>
            <a:ext cx="512064" cy="512064"/>
          </a:xfrm>
          <a:prstGeom prst="roundRect">
            <a:avLst>
              <a:gd name="adj" fmla="val 14286"/>
            </a:avLst>
          </a:prstGeom>
          <a:solidFill>
            <a:srgbClr val="5C6A86"/>
          </a:solidFill>
          <a:ln/>
          <a:effectLst>
            <a:outerShdw sx="100000" sy="100000" kx="0" ky="0" algn="bl" rotWithShape="0" blurRad="88900" dist="25400" dir="5400000">
              <a:srgbClr val="000000">
                <a:alpha val="10000"/>
              </a:srgbClr>
            </a:outerShdw>
          </a:effectLst>
        </p:spPr>
      </p:sp>
      <p:pic>
        <p:nvPicPr>
          <p:cNvPr id="9" name="Image 2" descr="preencoded.png">    </p:cNvPr>
          <p:cNvPicPr>
            <a:picLocks noChangeAspect="1"/>
          </p:cNvPicPr>
          <p:nvPr/>
        </p:nvPicPr>
        <p:blipFill>
          <a:blip r:embed="rId3"/>
          <a:stretch>
            <a:fillRect/>
          </a:stretch>
        </p:blipFill>
        <p:spPr>
          <a:xfrm>
            <a:off x="975848" y="3307568"/>
            <a:ext cx="389169" cy="389169"/>
          </a:xfrm>
          <a:prstGeom prst="rect">
            <a:avLst/>
          </a:prstGeom>
        </p:spPr>
      </p:pic>
      <p:sp>
        <p:nvSpPr>
          <p:cNvPr id="10" name="Text 5"/>
          <p:cNvSpPr/>
          <p:nvPr/>
        </p:nvSpPr>
        <p:spPr>
          <a:xfrm>
            <a:off x="914400" y="3904488"/>
            <a:ext cx="2962656" cy="457200"/>
          </a:xfrm>
          <a:prstGeom prst="rect">
            <a:avLst/>
          </a:prstGeom>
          <a:noFill/>
          <a:ln/>
        </p:spPr>
        <p:txBody>
          <a:bodyPr wrap="square" lIns="0" tIns="0" rIns="0" bIns="0" rtlCol="0" anchor="ctr"/>
          <a:lstStyle/>
          <a:p>
            <a:pPr indent="0" marL="0">
              <a:lnSpc>
                <a:spcPct val="100000"/>
              </a:lnSpc>
              <a:buNone/>
            </a:pPr>
            <a:r>
              <a:rPr lang="en-US" sz="1400" b="1" dirty="0">
                <a:solidFill>
                  <a:srgbClr val="16203A"/>
                </a:solidFill>
                <a:latin typeface="Calibri" pitchFamily="34" charset="0"/>
                <a:ea typeface="Calibri" pitchFamily="34" charset="-122"/>
                <a:cs typeface="Calibri" pitchFamily="34" charset="-120"/>
              </a:rPr>
              <a:t>Tools Global</a:t>
            </a:r>
            <a:pPr indent="0" marL="0">
              <a:lnSpc>
                <a:spcPct val="100000"/>
              </a:lnSpc>
              <a:buNone/>
            </a:pPr>
            <a:r>
              <a:rPr lang="en-US" sz="1400" i="1" dirty="0">
                <a:solidFill>
                  <a:srgbClr val="5C6A86"/>
                </a:solidFill>
                <a:latin typeface="Calibri" pitchFamily="34" charset="0"/>
                <a:ea typeface="Calibri" pitchFamily="34" charset="-122"/>
                <a:cs typeface="Calibri" pitchFamily="34" charset="-120"/>
              </a:rPr>
              <a:t>  (Brandwatch / Meltwater)</a:t>
            </a:r>
            <a:endParaRPr lang="en-US" sz="1400" dirty="0"/>
          </a:p>
        </p:txBody>
      </p:sp>
      <p:sp>
        <p:nvSpPr>
          <p:cNvPr id="11" name="Text 6"/>
          <p:cNvSpPr/>
          <p:nvPr/>
        </p:nvSpPr>
        <p:spPr>
          <a:xfrm>
            <a:off x="914400" y="4343400"/>
            <a:ext cx="2962656" cy="749808"/>
          </a:xfrm>
          <a:prstGeom prst="rect">
            <a:avLst/>
          </a:prstGeom>
          <a:noFill/>
          <a:ln/>
        </p:spPr>
        <p:txBody>
          <a:bodyPr wrap="square" lIns="0" tIns="0" rIns="0" bIns="0" rtlCol="0" anchor="ctr"/>
          <a:lstStyle/>
          <a:p>
            <a:pPr indent="0" marL="0">
              <a:lnSpc>
                <a:spcPct val="105000"/>
              </a:lnSpc>
              <a:buNone/>
            </a:pPr>
            <a:r>
              <a:rPr lang="en-US" sz="1050" dirty="0">
                <a:solidFill>
                  <a:srgbClr val="5C6A86"/>
                </a:solidFill>
                <a:latin typeface="Calibri" pitchFamily="34" charset="0"/>
                <a:ea typeface="Calibri" pitchFamily="34" charset="-122"/>
                <a:cs typeface="Calibri" pitchFamily="34" charset="-120"/>
              </a:rPr>
              <a:t>Coverage luas, tapi sering meleset pada slang Indonesia ('eneg', 'seger', 'racun') yang justru menentukan sentimen narasi air mineral.</a:t>
            </a:r>
            <a:endParaRPr lang="en-US" sz="1050" dirty="0"/>
          </a:p>
        </p:txBody>
      </p:sp>
      <p:sp>
        <p:nvSpPr>
          <p:cNvPr id="12" name="Shape 7"/>
          <p:cNvSpPr/>
          <p:nvPr/>
        </p:nvSpPr>
        <p:spPr>
          <a:xfrm>
            <a:off x="4398264" y="2971800"/>
            <a:ext cx="3511296" cy="2194560"/>
          </a:xfrm>
          <a:prstGeom prst="roundRect">
            <a:avLst>
              <a:gd name="adj" fmla="val 4167"/>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3" name="Shape 8"/>
          <p:cNvSpPr/>
          <p:nvPr/>
        </p:nvSpPr>
        <p:spPr>
          <a:xfrm>
            <a:off x="4672584" y="3246120"/>
            <a:ext cx="512064" cy="512064"/>
          </a:xfrm>
          <a:prstGeom prst="roundRect">
            <a:avLst>
              <a:gd name="adj" fmla="val 14286"/>
            </a:avLst>
          </a:prstGeom>
          <a:solidFill>
            <a:srgbClr val="5C6A86"/>
          </a:solidFill>
          <a:ln/>
          <a:effectLst>
            <a:outerShdw sx="100000" sy="100000" kx="0" ky="0" algn="bl" rotWithShape="0" blurRad="88900" dist="25400" dir="5400000">
              <a:srgbClr val="000000">
                <a:alpha val="10000"/>
              </a:srgbClr>
            </a:outerShdw>
          </a:effectLst>
        </p:spPr>
      </p:sp>
      <p:pic>
        <p:nvPicPr>
          <p:cNvPr id="14" name="Image 3" descr="preencoded.png">    </p:cNvPr>
          <p:cNvPicPr>
            <a:picLocks noChangeAspect="1"/>
          </p:cNvPicPr>
          <p:nvPr/>
        </p:nvPicPr>
        <p:blipFill>
          <a:blip r:embed="rId4"/>
          <a:stretch>
            <a:fillRect/>
          </a:stretch>
        </p:blipFill>
        <p:spPr>
          <a:xfrm>
            <a:off x="4734032" y="3307568"/>
            <a:ext cx="389169" cy="389169"/>
          </a:xfrm>
          <a:prstGeom prst="rect">
            <a:avLst/>
          </a:prstGeom>
        </p:spPr>
      </p:pic>
      <p:sp>
        <p:nvSpPr>
          <p:cNvPr id="15" name="Text 9"/>
          <p:cNvSpPr/>
          <p:nvPr/>
        </p:nvSpPr>
        <p:spPr>
          <a:xfrm>
            <a:off x="4672584" y="3904488"/>
            <a:ext cx="2962656" cy="457200"/>
          </a:xfrm>
          <a:prstGeom prst="rect">
            <a:avLst/>
          </a:prstGeom>
          <a:noFill/>
          <a:ln/>
        </p:spPr>
        <p:txBody>
          <a:bodyPr wrap="square" lIns="0" tIns="0" rIns="0" bIns="0" rtlCol="0" anchor="ctr"/>
          <a:lstStyle/>
          <a:p>
            <a:pPr indent="0" marL="0">
              <a:lnSpc>
                <a:spcPct val="100000"/>
              </a:lnSpc>
              <a:buNone/>
            </a:pPr>
            <a:r>
              <a:rPr lang="en-US" sz="1400" b="1" dirty="0">
                <a:solidFill>
                  <a:srgbClr val="16203A"/>
                </a:solidFill>
                <a:latin typeface="Calibri" pitchFamily="34" charset="0"/>
                <a:ea typeface="Calibri" pitchFamily="34" charset="-122"/>
                <a:cs typeface="Calibri" pitchFamily="34" charset="-120"/>
              </a:rPr>
              <a:t>Agency / Monitoring Manual</a:t>
            </a:r>
            <a:endParaRPr lang="en-US" sz="1400" dirty="0"/>
          </a:p>
        </p:txBody>
      </p:sp>
      <p:sp>
        <p:nvSpPr>
          <p:cNvPr id="16" name="Text 10"/>
          <p:cNvSpPr/>
          <p:nvPr/>
        </p:nvSpPr>
        <p:spPr>
          <a:xfrm>
            <a:off x="4672584" y="4343400"/>
            <a:ext cx="2962656" cy="749808"/>
          </a:xfrm>
          <a:prstGeom prst="rect">
            <a:avLst/>
          </a:prstGeom>
          <a:noFill/>
          <a:ln/>
        </p:spPr>
        <p:txBody>
          <a:bodyPr wrap="square" lIns="0" tIns="0" rIns="0" bIns="0" rtlCol="0" anchor="ctr"/>
          <a:lstStyle/>
          <a:p>
            <a:pPr indent="0" marL="0">
              <a:lnSpc>
                <a:spcPct val="105000"/>
              </a:lnSpc>
              <a:buNone/>
            </a:pPr>
            <a:r>
              <a:rPr lang="en-US" sz="1050" dirty="0">
                <a:solidFill>
                  <a:srgbClr val="5C6A86"/>
                </a:solidFill>
                <a:latin typeface="Calibri" pitchFamily="34" charset="0"/>
                <a:ea typeface="Calibri" pitchFamily="34" charset="-122"/>
                <a:cs typeface="Calibri" pitchFamily="34" charset="-120"/>
              </a:rPr>
              <a:t>Laporan biasanya mingguan dan reaktif. Terlambat untuk narasi BPA Free yang bisa memanas dalam hitungan jam.</a:t>
            </a:r>
            <a:endParaRPr lang="en-US" sz="1050" dirty="0"/>
          </a:p>
        </p:txBody>
      </p:sp>
      <p:sp>
        <p:nvSpPr>
          <p:cNvPr id="17" name="Shape 11"/>
          <p:cNvSpPr/>
          <p:nvPr/>
        </p:nvSpPr>
        <p:spPr>
          <a:xfrm>
            <a:off x="8156448" y="2971800"/>
            <a:ext cx="3511296" cy="2194560"/>
          </a:xfrm>
          <a:prstGeom prst="roundRect">
            <a:avLst>
              <a:gd name="adj" fmla="val 4167"/>
            </a:avLst>
          </a:prstGeom>
          <a:solidFill>
            <a:srgbClr val="0E2A6B"/>
          </a:solidFill>
          <a:ln w="12700">
            <a:solidFill>
              <a:srgbClr val="0E2A6B"/>
            </a:solidFill>
            <a:prstDash val="solid"/>
          </a:ln>
          <a:effectLst>
            <a:outerShdw sx="100000" sy="100000" kx="0" ky="0" algn="bl" rotWithShape="0" blurRad="114300" dist="38100" dir="5400000">
              <a:srgbClr val="0E2A6B">
                <a:alpha val="12000"/>
              </a:srgbClr>
            </a:outerShdw>
          </a:effectLst>
        </p:spPr>
      </p:sp>
      <p:sp>
        <p:nvSpPr>
          <p:cNvPr id="18" name="Shape 12"/>
          <p:cNvSpPr/>
          <p:nvPr/>
        </p:nvSpPr>
        <p:spPr>
          <a:xfrm>
            <a:off x="8430768" y="3246120"/>
            <a:ext cx="512064" cy="512064"/>
          </a:xfrm>
          <a:prstGeom prst="roundRect">
            <a:avLst>
              <a:gd name="adj" fmla="val 14286"/>
            </a:avLst>
          </a:prstGeom>
          <a:solidFill>
            <a:srgbClr val="2E86C8"/>
          </a:solidFill>
          <a:ln/>
          <a:effectLst>
            <a:outerShdw sx="100000" sy="100000" kx="0" ky="0" algn="bl" rotWithShape="0" blurRad="88900" dist="25400" dir="5400000">
              <a:srgbClr val="000000">
                <a:alpha val="10000"/>
              </a:srgbClr>
            </a:outerShdw>
          </a:effectLst>
        </p:spPr>
      </p:sp>
      <p:pic>
        <p:nvPicPr>
          <p:cNvPr id="19" name="Image 4" descr="preencoded.png">    </p:cNvPr>
          <p:cNvPicPr>
            <a:picLocks noChangeAspect="1"/>
          </p:cNvPicPr>
          <p:nvPr/>
        </p:nvPicPr>
        <p:blipFill>
          <a:blip r:embed="rId5"/>
          <a:stretch>
            <a:fillRect/>
          </a:stretch>
        </p:blipFill>
        <p:spPr>
          <a:xfrm>
            <a:off x="8492216" y="3307568"/>
            <a:ext cx="389169" cy="389169"/>
          </a:xfrm>
          <a:prstGeom prst="rect">
            <a:avLst/>
          </a:prstGeom>
        </p:spPr>
      </p:pic>
      <p:sp>
        <p:nvSpPr>
          <p:cNvPr id="20" name="Text 13"/>
          <p:cNvSpPr/>
          <p:nvPr/>
        </p:nvSpPr>
        <p:spPr>
          <a:xfrm>
            <a:off x="8430768" y="3904488"/>
            <a:ext cx="2962656" cy="457200"/>
          </a:xfrm>
          <a:prstGeom prst="rect">
            <a:avLst/>
          </a:prstGeom>
          <a:noFill/>
          <a:ln/>
        </p:spPr>
        <p:txBody>
          <a:bodyPr wrap="square" lIns="0" tIns="0" rIns="0" bIns="0" rtlCol="0" anchor="ctr"/>
          <a:lstStyle/>
          <a:p>
            <a:pPr indent="0" marL="0">
              <a:lnSpc>
                <a:spcPct val="100000"/>
              </a:lnSpc>
              <a:buNone/>
            </a:pPr>
            <a:r>
              <a:rPr lang="en-US" sz="1400" b="1" dirty="0">
                <a:solidFill>
                  <a:srgbClr val="FFFFFF"/>
                </a:solidFill>
                <a:latin typeface="Calibri" pitchFamily="34" charset="0"/>
                <a:ea typeface="Calibri" pitchFamily="34" charset="-122"/>
                <a:cs typeface="Calibri" pitchFamily="34" charset="-120"/>
              </a:rPr>
              <a:t>Dataxet:Sonar</a:t>
            </a:r>
            <a:endParaRPr lang="en-US" sz="1400" dirty="0"/>
          </a:p>
        </p:txBody>
      </p:sp>
      <p:sp>
        <p:nvSpPr>
          <p:cNvPr id="21" name="Text 14"/>
          <p:cNvSpPr/>
          <p:nvPr/>
        </p:nvSpPr>
        <p:spPr>
          <a:xfrm>
            <a:off x="8430768" y="4343400"/>
            <a:ext cx="2962656" cy="749808"/>
          </a:xfrm>
          <a:prstGeom prst="rect">
            <a:avLst/>
          </a:prstGeom>
          <a:noFill/>
          <a:ln/>
        </p:spPr>
        <p:txBody>
          <a:bodyPr wrap="square" lIns="0" tIns="0" rIns="0" bIns="0" rtlCol="0" anchor="ctr"/>
          <a:lstStyle/>
          <a:p>
            <a:pPr indent="0" marL="0">
              <a:lnSpc>
                <a:spcPct val="105000"/>
              </a:lnSpc>
              <a:buNone/>
            </a:pPr>
            <a:r>
              <a:rPr lang="en-US" sz="1050" dirty="0">
                <a:solidFill>
                  <a:srgbClr val="C8D5EE"/>
                </a:solidFill>
                <a:latin typeface="Calibri" pitchFamily="34" charset="0"/>
                <a:ea typeface="Calibri" pitchFamily="34" charset="-122"/>
                <a:cs typeface="Calibri" pitchFamily="34" charset="-120"/>
              </a:rPr>
              <a:t>Kedalaman bahasa dan slang lokal, coverage TikTok tempat narasi lahir, alert real-time WA/email, dan AI report siap-readout.</a:t>
            </a:r>
            <a:endParaRPr lang="en-US" sz="1050" dirty="0"/>
          </a:p>
        </p:txBody>
      </p:sp>
      <p:sp>
        <p:nvSpPr>
          <p:cNvPr id="22" name="Shape 15"/>
          <p:cNvSpPr/>
          <p:nvPr/>
        </p:nvSpPr>
        <p:spPr>
          <a:xfrm>
            <a:off x="640080" y="5440680"/>
            <a:ext cx="10908792" cy="566928"/>
          </a:xfrm>
          <a:prstGeom prst="roundRect">
            <a:avLst>
              <a:gd name="adj" fmla="val 9677"/>
            </a:avLst>
          </a:prstGeom>
          <a:solidFill>
            <a:srgbClr val="0E2A6B"/>
          </a:solidFill>
          <a:ln/>
        </p:spPr>
      </p:sp>
      <p:sp>
        <p:nvSpPr>
          <p:cNvPr id="23" name="Text 16"/>
          <p:cNvSpPr/>
          <p:nvPr/>
        </p:nvSpPr>
        <p:spPr>
          <a:xfrm>
            <a:off x="914400" y="5440680"/>
            <a:ext cx="10360152" cy="566928"/>
          </a:xfrm>
          <a:prstGeom prst="rect">
            <a:avLst/>
          </a:prstGeom>
          <a:noFill/>
          <a:ln/>
        </p:spPr>
        <p:txBody>
          <a:bodyPr wrap="square" lIns="0" tIns="0" rIns="0" bIns="0" rtlCol="0" anchor="ctr"/>
          <a:lstStyle/>
          <a:p>
            <a:pPr algn="l" indent="0" marL="0">
              <a:buNone/>
            </a:pPr>
            <a:r>
              <a:rPr lang="en-US" sz="1250" i="1" dirty="0">
                <a:solidFill>
                  <a:srgbClr val="FFFFFF"/>
                </a:solidFill>
                <a:latin typeface="Calibri" pitchFamily="34" charset="0"/>
                <a:ea typeface="Calibri" pitchFamily="34" charset="-122"/>
                <a:cs typeface="Calibri" pitchFamily="34" charset="-120"/>
              </a:rPr>
              <a:t>Kedalaman bahasa lokal, coverage TikTok, alert real-time, dan report siap-readout.</a:t>
            </a:r>
            <a:endParaRPr lang="en-US" sz="1250" dirty="0"/>
          </a:p>
        </p:txBody>
      </p:sp>
      <p:sp>
        <p:nvSpPr>
          <p:cNvPr id="24" name="Text 17"/>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850" dirty="0">
                <a:solidFill>
                  <a:srgbClr val="5C6A86"/>
                </a:solidFill>
                <a:latin typeface="Calibri" pitchFamily="34" charset="0"/>
                <a:ea typeface="Calibri" pitchFamily="34" charset="-122"/>
                <a:cs typeface="Calibri" pitchFamily="34" charset="-120"/>
              </a:rPr>
              <a:t>CONFIDENTIAL · Le Minerale × dataxet:sonar</a:t>
            </a:r>
            <a:endParaRPr lang="en-US" sz="850" dirty="0"/>
          </a:p>
        </p:txBody>
      </p:sp>
      <p:sp>
        <p:nvSpPr>
          <p:cNvPr id="25" name="Text 18"/>
          <p:cNvSpPr/>
          <p:nvPr/>
        </p:nvSpPr>
        <p:spPr>
          <a:xfrm>
            <a:off x="10451592" y="6400800"/>
            <a:ext cx="1097280" cy="274320"/>
          </a:xfrm>
          <a:prstGeom prst="rect">
            <a:avLst/>
          </a:prstGeom>
          <a:noFill/>
          <a:ln/>
        </p:spPr>
        <p:txBody>
          <a:bodyPr wrap="square" lIns="0" tIns="0" rIns="0" bIns="0" rtlCol="0" anchor="ctr"/>
          <a:lstStyle/>
          <a:p>
            <a:pPr algn="r" indent="0" marL="0">
              <a:buNone/>
            </a:pPr>
            <a:r>
              <a:rPr lang="en-US" sz="900" dirty="0">
                <a:solidFill>
                  <a:srgbClr val="5C6A86"/>
                </a:solidFill>
                <a:latin typeface="Calibri" pitchFamily="34" charset="0"/>
                <a:ea typeface="Calibri" pitchFamily="34" charset="-122"/>
                <a:cs typeface="Calibri" pitchFamily="34" charset="-120"/>
              </a:rPr>
              <a:t>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8FD"/>
        </a:solidFill>
      </p:bgPr>
    </p:bg>
    <p:spTree>
      <p:nvGrpSpPr>
        <p:cNvPr id="1" name=""/>
        <p:cNvGrpSpPr/>
        <p:nvPr/>
      </p:nvGrpSpPr>
      <p:grpSpPr>
        <a:xfrm>
          <a:off x="0" y="0"/>
          <a:ext cx="0" cy="0"/>
          <a:chOff x="0" y="0"/>
          <a:chExt cx="0" cy="0"/>
        </a:xfrm>
      </p:grpSpPr>
      <p:pic>
        <p:nvPicPr>
          <p:cNvPr id="2"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3"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4" name="Text 0"/>
          <p:cNvSpPr/>
          <p:nvPr/>
        </p:nvSpPr>
        <p:spPr>
          <a:xfrm>
            <a:off x="640080" y="932688"/>
            <a:ext cx="6400800" cy="310896"/>
          </a:xfrm>
          <a:prstGeom prst="rect">
            <a:avLst/>
          </a:prstGeom>
          <a:noFill/>
          <a:ln/>
        </p:spPr>
        <p:txBody>
          <a:bodyPr wrap="square" lIns="0" tIns="0" rIns="0" bIns="0" rtlCol="0" anchor="ctr"/>
          <a:lstStyle/>
          <a:p>
            <a:pPr algn="l" indent="0" marL="0">
              <a:buNone/>
            </a:pPr>
            <a:r>
              <a:rPr lang="en-US" sz="1250" b="1" spc="300" kern="0" dirty="0">
                <a:solidFill>
                  <a:srgbClr val="2E86C8"/>
                </a:solidFill>
                <a:latin typeface="Calibri" pitchFamily="34" charset="0"/>
                <a:ea typeface="Calibri" pitchFamily="34" charset="-122"/>
                <a:cs typeface="Calibri" pitchFamily="34" charset="-120"/>
              </a:rPr>
              <a:t>RISIKO RENDAH</a:t>
            </a:r>
            <a:endParaRPr lang="en-US" sz="1250" dirty="0"/>
          </a:p>
        </p:txBody>
      </p:sp>
      <p:sp>
        <p:nvSpPr>
          <p:cNvPr id="5" name="Text 1"/>
          <p:cNvSpPr/>
          <p:nvPr/>
        </p:nvSpPr>
        <p:spPr>
          <a:xfrm>
            <a:off x="640080" y="1298448"/>
            <a:ext cx="10908792" cy="1024128"/>
          </a:xfrm>
          <a:prstGeom prst="rect">
            <a:avLst/>
          </a:prstGeom>
          <a:noFill/>
          <a:ln/>
        </p:spPr>
        <p:txBody>
          <a:bodyPr wrap="square" lIns="0" tIns="0" rIns="0" bIns="0" rtlCol="0" anchor="t"/>
          <a:lstStyle/>
          <a:p>
            <a:pPr algn="l" indent="0" marL="0">
              <a:lnSpc>
                <a:spcPct val="100000"/>
              </a:lnSpc>
              <a:buNone/>
            </a:pPr>
            <a:r>
              <a:rPr lang="en-US" sz="2350" b="1" dirty="0">
                <a:solidFill>
                  <a:srgbClr val="0E2A6B"/>
                </a:solidFill>
                <a:latin typeface="Cambria" pitchFamily="34" charset="0"/>
                <a:ea typeface="Cambria" pitchFamily="34" charset="-122"/>
                <a:cs typeface="Cambria" pitchFamily="34" charset="-120"/>
              </a:rPr>
              <a:t>Pilot 30 Hari Memberi Baseline Yang Tetap Berguna, Apa Pun Keputusan Setelahnya</a:t>
            </a:r>
            <a:endParaRPr lang="en-US" sz="2350" dirty="0"/>
          </a:p>
        </p:txBody>
      </p:sp>
      <p:sp>
        <p:nvSpPr>
          <p:cNvPr id="6" name="Text 2"/>
          <p:cNvSpPr/>
          <p:nvPr/>
        </p:nvSpPr>
        <p:spPr>
          <a:xfrm>
            <a:off x="640080" y="2286000"/>
            <a:ext cx="10908792" cy="640080"/>
          </a:xfrm>
          <a:prstGeom prst="rect">
            <a:avLst/>
          </a:prstGeom>
          <a:noFill/>
          <a:ln/>
        </p:spPr>
        <p:txBody>
          <a:bodyPr wrap="square" lIns="0" tIns="0" rIns="0" bIns="0" rtlCol="0" anchor="t"/>
          <a:lstStyle/>
          <a:p>
            <a:pPr algn="l" indent="0" marL="0">
              <a:lnSpc>
                <a:spcPct val="105000"/>
              </a:lnSpc>
              <a:buNone/>
            </a:pPr>
            <a:r>
              <a:rPr lang="en-US" sz="1350" dirty="0">
                <a:solidFill>
                  <a:srgbClr val="5C6A86"/>
                </a:solidFill>
                <a:latin typeface="Calibri" pitchFamily="34" charset="0"/>
                <a:ea typeface="Calibri" pitchFamily="34" charset="-122"/>
                <a:cs typeface="Calibri" pitchFamily="34" charset="-120"/>
              </a:rPr>
              <a:t>Yang Anda bawa pulang adalah peta efektivitas lima narasi dan benchmark kompetitor, aset untuk merancang campaign berikutnya, terlepas dari kelanjutan.</a:t>
            </a:r>
            <a:endParaRPr lang="en-US" sz="1350" dirty="0"/>
          </a:p>
        </p:txBody>
      </p:sp>
      <p:sp>
        <p:nvSpPr>
          <p:cNvPr id="7" name="Shape 3"/>
          <p:cNvSpPr/>
          <p:nvPr/>
        </p:nvSpPr>
        <p:spPr>
          <a:xfrm>
            <a:off x="640080" y="2926080"/>
            <a:ext cx="3511296" cy="2240280"/>
          </a:xfrm>
          <a:prstGeom prst="roundRect">
            <a:avLst>
              <a:gd name="adj" fmla="val 4082"/>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8" name="Shape 4"/>
          <p:cNvSpPr/>
          <p:nvPr/>
        </p:nvSpPr>
        <p:spPr>
          <a:xfrm>
            <a:off x="914400" y="3218688"/>
            <a:ext cx="512064" cy="512064"/>
          </a:xfrm>
          <a:prstGeom prst="roundRect">
            <a:avLst>
              <a:gd name="adj" fmla="val 14286"/>
            </a:avLst>
          </a:prstGeom>
          <a:solidFill>
            <a:srgbClr val="0E2A6B"/>
          </a:solidFill>
          <a:ln/>
          <a:effectLst>
            <a:outerShdw sx="100000" sy="100000" kx="0" ky="0" algn="bl" rotWithShape="0" blurRad="88900" dist="25400" dir="5400000">
              <a:srgbClr val="000000">
                <a:alpha val="10000"/>
              </a:srgbClr>
            </a:outerShdw>
          </a:effectLst>
        </p:spPr>
      </p:sp>
      <p:pic>
        <p:nvPicPr>
          <p:cNvPr id="9" name="Image 2" descr="preencoded.png">    </p:cNvPr>
          <p:cNvPicPr>
            <a:picLocks noChangeAspect="1"/>
          </p:cNvPicPr>
          <p:nvPr/>
        </p:nvPicPr>
        <p:blipFill>
          <a:blip r:embed="rId3"/>
          <a:stretch>
            <a:fillRect/>
          </a:stretch>
        </p:blipFill>
        <p:spPr>
          <a:xfrm>
            <a:off x="975848" y="3280136"/>
            <a:ext cx="389169" cy="389169"/>
          </a:xfrm>
          <a:prstGeom prst="rect">
            <a:avLst/>
          </a:prstGeom>
        </p:spPr>
      </p:pic>
      <p:sp>
        <p:nvSpPr>
          <p:cNvPr id="10" name="Text 5"/>
          <p:cNvSpPr/>
          <p:nvPr/>
        </p:nvSpPr>
        <p:spPr>
          <a:xfrm>
            <a:off x="914400" y="3913632"/>
            <a:ext cx="2962656" cy="45720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Yang Anda Simpan</a:t>
            </a:r>
            <a:endParaRPr lang="en-US" sz="1500" dirty="0"/>
          </a:p>
        </p:txBody>
      </p:sp>
      <p:sp>
        <p:nvSpPr>
          <p:cNvPr id="11" name="Text 6"/>
          <p:cNvSpPr/>
          <p:nvPr/>
        </p:nvSpPr>
        <p:spPr>
          <a:xfrm>
            <a:off x="914400" y="4315968"/>
            <a:ext cx="2962656" cy="822960"/>
          </a:xfrm>
          <a:prstGeom prst="rect">
            <a:avLst/>
          </a:prstGeom>
          <a:noFill/>
          <a:ln/>
        </p:spPr>
        <p:txBody>
          <a:bodyPr wrap="square" lIns="0" tIns="0" rIns="0" bIns="0" rtlCol="0" anchor="ctr"/>
          <a:lstStyle/>
          <a:p>
            <a:pPr indent="0" marL="0">
              <a:lnSpc>
                <a:spcPct val="105000"/>
              </a:lnSpc>
              <a:buNone/>
            </a:pPr>
            <a:r>
              <a:rPr lang="en-US" sz="1100" dirty="0">
                <a:solidFill>
                  <a:srgbClr val="5C6A86"/>
                </a:solidFill>
                <a:latin typeface="Calibri" pitchFamily="34" charset="0"/>
                <a:ea typeface="Calibri" pitchFamily="34" charset="-122"/>
                <a:cs typeface="Calibri" pitchFamily="34" charset="-120"/>
              </a:rPr>
              <a:t>Peta efektivitas lima narasi dan benchmark Aqua, Aquviva, Nestlé Pure Life. Baseline yang tetap dipakai untuk campaign berikutnya.</a:t>
            </a:r>
            <a:endParaRPr lang="en-US" sz="1100" dirty="0"/>
          </a:p>
        </p:txBody>
      </p:sp>
      <p:sp>
        <p:nvSpPr>
          <p:cNvPr id="12" name="Shape 7"/>
          <p:cNvSpPr/>
          <p:nvPr/>
        </p:nvSpPr>
        <p:spPr>
          <a:xfrm>
            <a:off x="4398264" y="2926080"/>
            <a:ext cx="3511296" cy="2240280"/>
          </a:xfrm>
          <a:prstGeom prst="roundRect">
            <a:avLst>
              <a:gd name="adj" fmla="val 4082"/>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3" name="Shape 8"/>
          <p:cNvSpPr/>
          <p:nvPr/>
        </p:nvSpPr>
        <p:spPr>
          <a:xfrm>
            <a:off x="4672584" y="3218688"/>
            <a:ext cx="512064" cy="512064"/>
          </a:xfrm>
          <a:prstGeom prst="roundRect">
            <a:avLst>
              <a:gd name="adj" fmla="val 14286"/>
            </a:avLst>
          </a:prstGeom>
          <a:solidFill>
            <a:srgbClr val="0E2A6B"/>
          </a:solidFill>
          <a:ln/>
          <a:effectLst>
            <a:outerShdw sx="100000" sy="100000" kx="0" ky="0" algn="bl" rotWithShape="0" blurRad="88900" dist="25400" dir="5400000">
              <a:srgbClr val="000000">
                <a:alpha val="10000"/>
              </a:srgbClr>
            </a:outerShdw>
          </a:effectLst>
        </p:spPr>
      </p:sp>
      <p:pic>
        <p:nvPicPr>
          <p:cNvPr id="14" name="Image 3" descr="preencoded.png">    </p:cNvPr>
          <p:cNvPicPr>
            <a:picLocks noChangeAspect="1"/>
          </p:cNvPicPr>
          <p:nvPr/>
        </p:nvPicPr>
        <p:blipFill>
          <a:blip r:embed="rId4"/>
          <a:stretch>
            <a:fillRect/>
          </a:stretch>
        </p:blipFill>
        <p:spPr>
          <a:xfrm>
            <a:off x="4734032" y="3280136"/>
            <a:ext cx="389169" cy="389169"/>
          </a:xfrm>
          <a:prstGeom prst="rect">
            <a:avLst/>
          </a:prstGeom>
        </p:spPr>
      </p:pic>
      <p:sp>
        <p:nvSpPr>
          <p:cNvPr id="15" name="Text 9"/>
          <p:cNvSpPr/>
          <p:nvPr/>
        </p:nvSpPr>
        <p:spPr>
          <a:xfrm>
            <a:off x="4672584" y="3913632"/>
            <a:ext cx="2962656" cy="45720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Yang Anda Pelajari</a:t>
            </a:r>
            <a:endParaRPr lang="en-US" sz="1500" dirty="0"/>
          </a:p>
        </p:txBody>
      </p:sp>
      <p:sp>
        <p:nvSpPr>
          <p:cNvPr id="16" name="Text 10"/>
          <p:cNvSpPr/>
          <p:nvPr/>
        </p:nvSpPr>
        <p:spPr>
          <a:xfrm>
            <a:off x="4672584" y="4315968"/>
            <a:ext cx="2962656" cy="822960"/>
          </a:xfrm>
          <a:prstGeom prst="rect">
            <a:avLst/>
          </a:prstGeom>
          <a:noFill/>
          <a:ln/>
        </p:spPr>
        <p:txBody>
          <a:bodyPr wrap="square" lIns="0" tIns="0" rIns="0" bIns="0" rtlCol="0" anchor="ctr"/>
          <a:lstStyle/>
          <a:p>
            <a:pPr indent="0" marL="0">
              <a:lnSpc>
                <a:spcPct val="105000"/>
              </a:lnSpc>
              <a:buNone/>
            </a:pPr>
            <a:r>
              <a:rPr lang="en-US" sz="1100" dirty="0">
                <a:solidFill>
                  <a:srgbClr val="5C6A86"/>
                </a:solidFill>
                <a:latin typeface="Calibri" pitchFamily="34" charset="0"/>
                <a:ea typeface="Calibri" pitchFamily="34" charset="-122"/>
                <a:cs typeface="Calibri" pitchFamily="34" charset="-120"/>
              </a:rPr>
              <a:t>Platform dan format pemenang per narasi, plus akun ambigu yang sudah ditandai untuk validasi. Berguna meski tanpa lanjutan.</a:t>
            </a:r>
            <a:endParaRPr lang="en-US" sz="1100" dirty="0"/>
          </a:p>
        </p:txBody>
      </p:sp>
      <p:sp>
        <p:nvSpPr>
          <p:cNvPr id="17" name="Shape 11"/>
          <p:cNvSpPr/>
          <p:nvPr/>
        </p:nvSpPr>
        <p:spPr>
          <a:xfrm>
            <a:off x="8156448" y="2926080"/>
            <a:ext cx="3511296" cy="2240280"/>
          </a:xfrm>
          <a:prstGeom prst="roundRect">
            <a:avLst>
              <a:gd name="adj" fmla="val 4082"/>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8" name="Shape 12"/>
          <p:cNvSpPr/>
          <p:nvPr/>
        </p:nvSpPr>
        <p:spPr>
          <a:xfrm>
            <a:off x="8430768" y="3218688"/>
            <a:ext cx="512064" cy="512064"/>
          </a:xfrm>
          <a:prstGeom prst="roundRect">
            <a:avLst>
              <a:gd name="adj" fmla="val 14286"/>
            </a:avLst>
          </a:prstGeom>
          <a:solidFill>
            <a:srgbClr val="0E2A6B"/>
          </a:solidFill>
          <a:ln/>
          <a:effectLst>
            <a:outerShdw sx="100000" sy="100000" kx="0" ky="0" algn="bl" rotWithShape="0" blurRad="88900" dist="25400" dir="5400000">
              <a:srgbClr val="000000">
                <a:alpha val="10000"/>
              </a:srgbClr>
            </a:outerShdw>
          </a:effectLst>
        </p:spPr>
      </p:sp>
      <p:pic>
        <p:nvPicPr>
          <p:cNvPr id="19" name="Image 4" descr="preencoded.png">    </p:cNvPr>
          <p:cNvPicPr>
            <a:picLocks noChangeAspect="1"/>
          </p:cNvPicPr>
          <p:nvPr/>
        </p:nvPicPr>
        <p:blipFill>
          <a:blip r:embed="rId5"/>
          <a:stretch>
            <a:fillRect/>
          </a:stretch>
        </p:blipFill>
        <p:spPr>
          <a:xfrm>
            <a:off x="8492216" y="3280136"/>
            <a:ext cx="389169" cy="389169"/>
          </a:xfrm>
          <a:prstGeom prst="rect">
            <a:avLst/>
          </a:prstGeom>
        </p:spPr>
      </p:pic>
      <p:sp>
        <p:nvSpPr>
          <p:cNvPr id="20" name="Text 13"/>
          <p:cNvSpPr/>
          <p:nvPr/>
        </p:nvSpPr>
        <p:spPr>
          <a:xfrm>
            <a:off x="8430768" y="3913632"/>
            <a:ext cx="2962656" cy="457200"/>
          </a:xfrm>
          <a:prstGeom prst="rect">
            <a:avLst/>
          </a:prstGeom>
          <a:noFill/>
          <a:ln/>
        </p:spPr>
        <p:txBody>
          <a:bodyPr wrap="square" lIns="0" tIns="0" rIns="0" bIns="0" rtlCol="0" anchor="ctr"/>
          <a:lstStyle/>
          <a:p>
            <a:pPr indent="0" marL="0">
              <a:buNone/>
            </a:pPr>
            <a:r>
              <a:rPr lang="en-US" sz="1500" b="1" dirty="0">
                <a:solidFill>
                  <a:srgbClr val="16203A"/>
                </a:solidFill>
                <a:latin typeface="Calibri" pitchFamily="34" charset="0"/>
                <a:ea typeface="Calibri" pitchFamily="34" charset="-122"/>
                <a:cs typeface="Calibri" pitchFamily="34" charset="-120"/>
              </a:rPr>
              <a:t>Komitmen Minimal</a:t>
            </a:r>
            <a:endParaRPr lang="en-US" sz="1500" dirty="0"/>
          </a:p>
        </p:txBody>
      </p:sp>
      <p:sp>
        <p:nvSpPr>
          <p:cNvPr id="21" name="Text 14"/>
          <p:cNvSpPr/>
          <p:nvPr/>
        </p:nvSpPr>
        <p:spPr>
          <a:xfrm>
            <a:off x="8430768" y="4315968"/>
            <a:ext cx="2962656" cy="822960"/>
          </a:xfrm>
          <a:prstGeom prst="rect">
            <a:avLst/>
          </a:prstGeom>
          <a:noFill/>
          <a:ln/>
        </p:spPr>
        <p:txBody>
          <a:bodyPr wrap="square" lIns="0" tIns="0" rIns="0" bIns="0" rtlCol="0" anchor="ctr"/>
          <a:lstStyle/>
          <a:p>
            <a:pPr indent="0" marL="0">
              <a:lnSpc>
                <a:spcPct val="105000"/>
              </a:lnSpc>
              <a:buNone/>
            </a:pPr>
            <a:r>
              <a:rPr lang="en-US" sz="1100" dirty="0">
                <a:solidFill>
                  <a:srgbClr val="5C6A86"/>
                </a:solidFill>
                <a:latin typeface="Calibri" pitchFamily="34" charset="0"/>
                <a:ea typeface="Calibri" pitchFamily="34" charset="-122"/>
                <a:cs typeface="Calibri" pitchFamily="34" charset="-120"/>
              </a:rPr>
              <a:t>Diawali keyword validation dan sample dashboard. Tidak ada kewajiban annual sampai Anda melihat hasilnya.</a:t>
            </a:r>
            <a:endParaRPr lang="en-US" sz="1100" dirty="0"/>
          </a:p>
        </p:txBody>
      </p:sp>
      <p:sp>
        <p:nvSpPr>
          <p:cNvPr id="22" name="Shape 15"/>
          <p:cNvSpPr/>
          <p:nvPr/>
        </p:nvSpPr>
        <p:spPr>
          <a:xfrm>
            <a:off x="640080" y="5440680"/>
            <a:ext cx="10908792" cy="566928"/>
          </a:xfrm>
          <a:prstGeom prst="roundRect">
            <a:avLst>
              <a:gd name="adj" fmla="val 9677"/>
            </a:avLst>
          </a:prstGeom>
          <a:solidFill>
            <a:srgbClr val="0E2A6B"/>
          </a:solidFill>
          <a:ln/>
        </p:spPr>
      </p:sp>
      <p:sp>
        <p:nvSpPr>
          <p:cNvPr id="23" name="Text 16"/>
          <p:cNvSpPr/>
          <p:nvPr/>
        </p:nvSpPr>
        <p:spPr>
          <a:xfrm>
            <a:off x="914400" y="5440680"/>
            <a:ext cx="10360152" cy="566928"/>
          </a:xfrm>
          <a:prstGeom prst="rect">
            <a:avLst/>
          </a:prstGeom>
          <a:noFill/>
          <a:ln/>
        </p:spPr>
        <p:txBody>
          <a:bodyPr wrap="square" lIns="0" tIns="0" rIns="0" bIns="0" rtlCol="0" anchor="ctr"/>
          <a:lstStyle/>
          <a:p>
            <a:pPr algn="l" indent="0" marL="0">
              <a:buNone/>
            </a:pPr>
            <a:r>
              <a:rPr lang="en-US" sz="1250" i="1" dirty="0">
                <a:solidFill>
                  <a:srgbClr val="FFFFFF"/>
                </a:solidFill>
                <a:latin typeface="Calibri" pitchFamily="34" charset="0"/>
                <a:ea typeface="Calibri" pitchFamily="34" charset="-122"/>
                <a:cs typeface="Calibri" pitchFamily="34" charset="-120"/>
              </a:rPr>
              <a:t>Komitmen kecil, deliverable yang Anda simpan, keputusan tetap di tangan Anda.</a:t>
            </a:r>
            <a:endParaRPr lang="en-US" sz="1250" dirty="0"/>
          </a:p>
        </p:txBody>
      </p:sp>
      <p:sp>
        <p:nvSpPr>
          <p:cNvPr id="24" name="Text 17"/>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850" dirty="0">
                <a:solidFill>
                  <a:srgbClr val="5C6A86"/>
                </a:solidFill>
                <a:latin typeface="Calibri" pitchFamily="34" charset="0"/>
                <a:ea typeface="Calibri" pitchFamily="34" charset="-122"/>
                <a:cs typeface="Calibri" pitchFamily="34" charset="-120"/>
              </a:rPr>
              <a:t>CONFIDENTIAL · Le Minerale × dataxet:sonar</a:t>
            </a:r>
            <a:endParaRPr lang="en-US" sz="850" dirty="0"/>
          </a:p>
        </p:txBody>
      </p:sp>
      <p:sp>
        <p:nvSpPr>
          <p:cNvPr id="25" name="Text 18"/>
          <p:cNvSpPr/>
          <p:nvPr/>
        </p:nvSpPr>
        <p:spPr>
          <a:xfrm>
            <a:off x="10451592" y="6400800"/>
            <a:ext cx="1097280" cy="274320"/>
          </a:xfrm>
          <a:prstGeom prst="rect">
            <a:avLst/>
          </a:prstGeom>
          <a:noFill/>
          <a:ln/>
        </p:spPr>
        <p:txBody>
          <a:bodyPr wrap="square" lIns="0" tIns="0" rIns="0" bIns="0" rtlCol="0" anchor="ctr"/>
          <a:lstStyle/>
          <a:p>
            <a:pPr algn="r" indent="0" marL="0">
              <a:buNone/>
            </a:pPr>
            <a:r>
              <a:rPr lang="en-US" sz="900" dirty="0">
                <a:solidFill>
                  <a:srgbClr val="5C6A86"/>
                </a:solidFill>
                <a:latin typeface="Calibri" pitchFamily="34" charset="0"/>
                <a:ea typeface="Calibri" pitchFamily="34" charset="-122"/>
                <a:cs typeface="Calibri" pitchFamily="34" charset="-120"/>
              </a:rPr>
              <a:t>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8FD"/>
        </a:solidFill>
      </p:bgPr>
    </p:bg>
    <p:spTree>
      <p:nvGrpSpPr>
        <p:cNvPr id="1" name=""/>
        <p:cNvGrpSpPr/>
        <p:nvPr/>
      </p:nvGrpSpPr>
      <p:grpSpPr>
        <a:xfrm>
          <a:off x="0" y="0"/>
          <a:ext cx="0" cy="0"/>
          <a:chOff x="0" y="0"/>
          <a:chExt cx="0" cy="0"/>
        </a:xfrm>
      </p:grpSpPr>
      <p:pic>
        <p:nvPicPr>
          <p:cNvPr id="2"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3"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4" name="Text 0"/>
          <p:cNvSpPr/>
          <p:nvPr/>
        </p:nvSpPr>
        <p:spPr>
          <a:xfrm>
            <a:off x="640080" y="932688"/>
            <a:ext cx="6400800" cy="310896"/>
          </a:xfrm>
          <a:prstGeom prst="rect">
            <a:avLst/>
          </a:prstGeom>
          <a:noFill/>
          <a:ln/>
        </p:spPr>
        <p:txBody>
          <a:bodyPr wrap="square" lIns="0" tIns="0" rIns="0" bIns="0" rtlCol="0" anchor="ctr"/>
          <a:lstStyle/>
          <a:p>
            <a:pPr algn="l" indent="0" marL="0">
              <a:buNone/>
            </a:pPr>
            <a:r>
              <a:rPr lang="en-US" sz="1250" b="1" spc="300" kern="0" dirty="0">
                <a:solidFill>
                  <a:srgbClr val="2E86C8"/>
                </a:solidFill>
                <a:latin typeface="Calibri" pitchFamily="34" charset="0"/>
                <a:ea typeface="Calibri" pitchFamily="34" charset="-122"/>
                <a:cs typeface="Calibri" pitchFamily="34" charset="-120"/>
              </a:rPr>
              <a:t>LANGKAH BERIKUTNYA</a:t>
            </a:r>
            <a:endParaRPr lang="en-US" sz="1250" dirty="0"/>
          </a:p>
        </p:txBody>
      </p:sp>
      <p:sp>
        <p:nvSpPr>
          <p:cNvPr id="5" name="Text 1"/>
          <p:cNvSpPr/>
          <p:nvPr/>
        </p:nvSpPr>
        <p:spPr>
          <a:xfrm>
            <a:off x="640080" y="1298448"/>
            <a:ext cx="10908792" cy="1024128"/>
          </a:xfrm>
          <a:prstGeom prst="rect">
            <a:avLst/>
          </a:prstGeom>
          <a:noFill/>
          <a:ln/>
        </p:spPr>
        <p:txBody>
          <a:bodyPr wrap="square" lIns="0" tIns="0" rIns="0" bIns="0" rtlCol="0" anchor="t"/>
          <a:lstStyle/>
          <a:p>
            <a:pPr algn="l" indent="0" marL="0">
              <a:lnSpc>
                <a:spcPct val="100000"/>
              </a:lnSpc>
              <a:buNone/>
            </a:pPr>
            <a:r>
              <a:rPr lang="en-US" sz="2350" b="1" dirty="0">
                <a:solidFill>
                  <a:srgbClr val="0E2A6B"/>
                </a:solidFill>
                <a:latin typeface="Cambria" pitchFamily="34" charset="0"/>
                <a:ea typeface="Cambria" pitchFamily="34" charset="-122"/>
                <a:cs typeface="Cambria" pitchFamily="34" charset="-120"/>
              </a:rPr>
              <a:t>Mulai Dari Satu Pertanyaan: Dari Lima Narasi Anda, Mana Yang Menang?</a:t>
            </a:r>
            <a:endParaRPr lang="en-US" sz="2350" dirty="0"/>
          </a:p>
        </p:txBody>
      </p:sp>
      <p:sp>
        <p:nvSpPr>
          <p:cNvPr id="6" name="Text 2"/>
          <p:cNvSpPr/>
          <p:nvPr/>
        </p:nvSpPr>
        <p:spPr>
          <a:xfrm>
            <a:off x="640080" y="2286000"/>
            <a:ext cx="10908792" cy="640080"/>
          </a:xfrm>
          <a:prstGeom prst="rect">
            <a:avLst/>
          </a:prstGeom>
          <a:noFill/>
          <a:ln/>
        </p:spPr>
        <p:txBody>
          <a:bodyPr wrap="square" lIns="0" tIns="0" rIns="0" bIns="0" rtlCol="0" anchor="t"/>
          <a:lstStyle/>
          <a:p>
            <a:pPr algn="l" indent="0" marL="0">
              <a:lnSpc>
                <a:spcPct val="105000"/>
              </a:lnSpc>
              <a:buNone/>
            </a:pPr>
            <a:r>
              <a:rPr lang="en-US" sz="1350" dirty="0">
                <a:solidFill>
                  <a:srgbClr val="5C6A86"/>
                </a:solidFill>
                <a:latin typeface="Calibri" pitchFamily="34" charset="0"/>
                <a:ea typeface="Calibri" pitchFamily="34" charset="-122"/>
                <a:cs typeface="Calibri" pitchFamily="34" charset="-120"/>
              </a:rPr>
              <a:t>Satu pertanyaan bisnis, satu baseline, satu peringkat narasi yang Anda bawa ke meja keputusan campaign berikutnya.</a:t>
            </a:r>
            <a:endParaRPr lang="en-US" sz="1350" dirty="0"/>
          </a:p>
        </p:txBody>
      </p:sp>
      <p:sp>
        <p:nvSpPr>
          <p:cNvPr id="7" name="Shape 3"/>
          <p:cNvSpPr/>
          <p:nvPr/>
        </p:nvSpPr>
        <p:spPr>
          <a:xfrm>
            <a:off x="640080" y="3017520"/>
            <a:ext cx="3383280" cy="1645920"/>
          </a:xfrm>
          <a:prstGeom prst="roundRect">
            <a:avLst>
              <a:gd name="adj" fmla="val 5556"/>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8" name="Text 4"/>
          <p:cNvSpPr/>
          <p:nvPr/>
        </p:nvSpPr>
        <p:spPr>
          <a:xfrm>
            <a:off x="914400" y="3236976"/>
            <a:ext cx="2834640" cy="292608"/>
          </a:xfrm>
          <a:prstGeom prst="rect">
            <a:avLst/>
          </a:prstGeom>
          <a:noFill/>
          <a:ln/>
        </p:spPr>
        <p:txBody>
          <a:bodyPr wrap="square" lIns="0" tIns="0" rIns="0" bIns="0" rtlCol="0" anchor="ctr"/>
          <a:lstStyle/>
          <a:p>
            <a:pPr indent="0" marL="0">
              <a:buNone/>
            </a:pPr>
            <a:r>
              <a:rPr lang="en-US" sz="1100" b="1" spc="200" kern="0" dirty="0">
                <a:solidFill>
                  <a:srgbClr val="1E78C8"/>
                </a:solidFill>
                <a:latin typeface="Calibri" pitchFamily="34" charset="0"/>
                <a:ea typeface="Calibri" pitchFamily="34" charset="-122"/>
                <a:cs typeface="Calibri" pitchFamily="34" charset="-120"/>
              </a:rPr>
              <a:t>PHASE 1</a:t>
            </a:r>
            <a:endParaRPr lang="en-US" sz="1100" dirty="0"/>
          </a:p>
        </p:txBody>
      </p:sp>
      <p:sp>
        <p:nvSpPr>
          <p:cNvPr id="9" name="Text 5"/>
          <p:cNvSpPr/>
          <p:nvPr/>
        </p:nvSpPr>
        <p:spPr>
          <a:xfrm>
            <a:off x="914400" y="3511296"/>
            <a:ext cx="2834640" cy="411480"/>
          </a:xfrm>
          <a:prstGeom prst="rect">
            <a:avLst/>
          </a:prstGeom>
          <a:noFill/>
          <a:ln/>
        </p:spPr>
        <p:txBody>
          <a:bodyPr wrap="square" lIns="0" tIns="0" rIns="0" bIns="0" rtlCol="0" anchor="ctr"/>
          <a:lstStyle/>
          <a:p>
            <a:pPr indent="0" marL="0">
              <a:buNone/>
            </a:pPr>
            <a:r>
              <a:rPr lang="en-US" sz="1600" b="1" dirty="0">
                <a:solidFill>
                  <a:srgbClr val="0E2A6B"/>
                </a:solidFill>
                <a:latin typeface="Cambria" pitchFamily="34" charset="0"/>
                <a:ea typeface="Cambria" pitchFamily="34" charset="-122"/>
                <a:cs typeface="Cambria" pitchFamily="34" charset="-120"/>
              </a:rPr>
              <a:t>Validasi &amp; Sample</a:t>
            </a:r>
            <a:endParaRPr lang="en-US" sz="1600" dirty="0"/>
          </a:p>
        </p:txBody>
      </p:sp>
      <p:sp>
        <p:nvSpPr>
          <p:cNvPr id="10" name="Text 6"/>
          <p:cNvSpPr/>
          <p:nvPr/>
        </p:nvSpPr>
        <p:spPr>
          <a:xfrm>
            <a:off x="914400" y="3931920"/>
            <a:ext cx="2834640" cy="685800"/>
          </a:xfrm>
          <a:prstGeom prst="rect">
            <a:avLst/>
          </a:prstGeom>
          <a:noFill/>
          <a:ln/>
        </p:spPr>
        <p:txBody>
          <a:bodyPr wrap="square" lIns="0" tIns="0" rIns="0" bIns="0" rtlCol="0" anchor="ctr"/>
          <a:lstStyle/>
          <a:p>
            <a:pPr indent="0" marL="0">
              <a:lnSpc>
                <a:spcPct val="105000"/>
              </a:lnSpc>
              <a:buNone/>
            </a:pPr>
            <a:r>
              <a:rPr lang="en-US" sz="1050" dirty="0">
                <a:solidFill>
                  <a:srgbClr val="5C6A86"/>
                </a:solidFill>
                <a:latin typeface="Calibri" pitchFamily="34" charset="0"/>
                <a:ea typeface="Calibri" pitchFamily="34" charset="-122"/>
                <a:cs typeface="Calibri" pitchFamily="34" charset="-120"/>
              </a:rPr>
              <a:t>Keyword taxonomy lima narasi divalidasi, sample dashboard, dan penandaan official account ambigu.</a:t>
            </a:r>
            <a:endParaRPr lang="en-US" sz="1050" dirty="0"/>
          </a:p>
        </p:txBody>
      </p:sp>
      <p:sp>
        <p:nvSpPr>
          <p:cNvPr id="11" name="Text 7"/>
          <p:cNvSpPr/>
          <p:nvPr/>
        </p:nvSpPr>
        <p:spPr>
          <a:xfrm>
            <a:off x="4041648" y="3520440"/>
            <a:ext cx="420624" cy="640080"/>
          </a:xfrm>
          <a:prstGeom prst="rect">
            <a:avLst/>
          </a:prstGeom>
          <a:noFill/>
          <a:ln/>
        </p:spPr>
        <p:txBody>
          <a:bodyPr wrap="square" lIns="0" tIns="0" rIns="0" bIns="0" rtlCol="0" anchor="ctr"/>
          <a:lstStyle/>
          <a:p>
            <a:pPr algn="ctr" indent="0" marL="0">
              <a:buNone/>
            </a:pPr>
            <a:r>
              <a:rPr lang="en-US" sz="2200" b="1" dirty="0">
                <a:solidFill>
                  <a:srgbClr val="E1251B"/>
                </a:solidFill>
                <a:latin typeface="Calibri" pitchFamily="34" charset="0"/>
                <a:ea typeface="Calibri" pitchFamily="34" charset="-122"/>
                <a:cs typeface="Calibri" pitchFamily="34" charset="-120"/>
              </a:rPr>
              <a:t>→</a:t>
            </a:r>
            <a:endParaRPr lang="en-US" sz="2200" dirty="0"/>
          </a:p>
        </p:txBody>
      </p:sp>
      <p:sp>
        <p:nvSpPr>
          <p:cNvPr id="12" name="Shape 8"/>
          <p:cNvSpPr/>
          <p:nvPr/>
        </p:nvSpPr>
        <p:spPr>
          <a:xfrm>
            <a:off x="4480560" y="3017520"/>
            <a:ext cx="3383280" cy="1645920"/>
          </a:xfrm>
          <a:prstGeom prst="roundRect">
            <a:avLst>
              <a:gd name="adj" fmla="val 5556"/>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3" name="Text 9"/>
          <p:cNvSpPr/>
          <p:nvPr/>
        </p:nvSpPr>
        <p:spPr>
          <a:xfrm>
            <a:off x="4754880" y="3236976"/>
            <a:ext cx="2834640" cy="292608"/>
          </a:xfrm>
          <a:prstGeom prst="rect">
            <a:avLst/>
          </a:prstGeom>
          <a:noFill/>
          <a:ln/>
        </p:spPr>
        <p:txBody>
          <a:bodyPr wrap="square" lIns="0" tIns="0" rIns="0" bIns="0" rtlCol="0" anchor="ctr"/>
          <a:lstStyle/>
          <a:p>
            <a:pPr indent="0" marL="0">
              <a:buNone/>
            </a:pPr>
            <a:r>
              <a:rPr lang="en-US" sz="1100" b="1" spc="200" kern="0" dirty="0">
                <a:solidFill>
                  <a:srgbClr val="1E78C8"/>
                </a:solidFill>
                <a:latin typeface="Calibri" pitchFamily="34" charset="0"/>
                <a:ea typeface="Calibri" pitchFamily="34" charset="-122"/>
                <a:cs typeface="Calibri" pitchFamily="34" charset="-120"/>
              </a:rPr>
              <a:t>PHASE 2</a:t>
            </a:r>
            <a:endParaRPr lang="en-US" sz="1100" dirty="0"/>
          </a:p>
        </p:txBody>
      </p:sp>
      <p:sp>
        <p:nvSpPr>
          <p:cNvPr id="14" name="Text 10"/>
          <p:cNvSpPr/>
          <p:nvPr/>
        </p:nvSpPr>
        <p:spPr>
          <a:xfrm>
            <a:off x="4754880" y="3511296"/>
            <a:ext cx="2834640" cy="411480"/>
          </a:xfrm>
          <a:prstGeom prst="rect">
            <a:avLst/>
          </a:prstGeom>
          <a:noFill/>
          <a:ln/>
        </p:spPr>
        <p:txBody>
          <a:bodyPr wrap="square" lIns="0" tIns="0" rIns="0" bIns="0" rtlCol="0" anchor="ctr"/>
          <a:lstStyle/>
          <a:p>
            <a:pPr indent="0" marL="0">
              <a:buNone/>
            </a:pPr>
            <a:r>
              <a:rPr lang="en-US" sz="1600" b="1" dirty="0">
                <a:solidFill>
                  <a:srgbClr val="0E2A6B"/>
                </a:solidFill>
                <a:latin typeface="Cambria" pitchFamily="34" charset="0"/>
                <a:ea typeface="Cambria" pitchFamily="34" charset="-122"/>
                <a:cs typeface="Cambria" pitchFamily="34" charset="-120"/>
              </a:rPr>
              <a:t>Pilot Baseline 30 Hari</a:t>
            </a:r>
            <a:endParaRPr lang="en-US" sz="1600" dirty="0"/>
          </a:p>
        </p:txBody>
      </p:sp>
      <p:sp>
        <p:nvSpPr>
          <p:cNvPr id="15" name="Text 11"/>
          <p:cNvSpPr/>
          <p:nvPr/>
        </p:nvSpPr>
        <p:spPr>
          <a:xfrm>
            <a:off x="4754880" y="3931920"/>
            <a:ext cx="2834640" cy="685800"/>
          </a:xfrm>
          <a:prstGeom prst="rect">
            <a:avLst/>
          </a:prstGeom>
          <a:noFill/>
          <a:ln/>
        </p:spPr>
        <p:txBody>
          <a:bodyPr wrap="square" lIns="0" tIns="0" rIns="0" bIns="0" rtlCol="0" anchor="ctr"/>
          <a:lstStyle/>
          <a:p>
            <a:pPr indent="0" marL="0">
              <a:lnSpc>
                <a:spcPct val="105000"/>
              </a:lnSpc>
              <a:buNone/>
            </a:pPr>
            <a:r>
              <a:rPr lang="en-US" sz="1050" dirty="0">
                <a:solidFill>
                  <a:srgbClr val="5C6A86"/>
                </a:solidFill>
                <a:latin typeface="Calibri" pitchFamily="34" charset="0"/>
                <a:ea typeface="Calibri" pitchFamily="34" charset="-122"/>
                <a:cs typeface="Calibri" pitchFamily="34" charset="-120"/>
              </a:rPr>
              <a:t>Baseline AMDK, peringkat narasi, dan benchmark Aqua/Aquviva/Nestlé Pure Life. Enam platform plus online media.</a:t>
            </a:r>
            <a:endParaRPr lang="en-US" sz="1050" dirty="0"/>
          </a:p>
        </p:txBody>
      </p:sp>
      <p:sp>
        <p:nvSpPr>
          <p:cNvPr id="16" name="Text 12"/>
          <p:cNvSpPr/>
          <p:nvPr/>
        </p:nvSpPr>
        <p:spPr>
          <a:xfrm>
            <a:off x="7882128" y="3520440"/>
            <a:ext cx="420624" cy="640080"/>
          </a:xfrm>
          <a:prstGeom prst="rect">
            <a:avLst/>
          </a:prstGeom>
          <a:noFill/>
          <a:ln/>
        </p:spPr>
        <p:txBody>
          <a:bodyPr wrap="square" lIns="0" tIns="0" rIns="0" bIns="0" rtlCol="0" anchor="ctr"/>
          <a:lstStyle/>
          <a:p>
            <a:pPr algn="ctr" indent="0" marL="0">
              <a:buNone/>
            </a:pPr>
            <a:r>
              <a:rPr lang="en-US" sz="2200" b="1" dirty="0">
                <a:solidFill>
                  <a:srgbClr val="E1251B"/>
                </a:solidFill>
                <a:latin typeface="Calibri" pitchFamily="34" charset="0"/>
                <a:ea typeface="Calibri" pitchFamily="34" charset="-122"/>
                <a:cs typeface="Calibri" pitchFamily="34" charset="-120"/>
              </a:rPr>
              <a:t>→</a:t>
            </a:r>
            <a:endParaRPr lang="en-US" sz="2200" dirty="0"/>
          </a:p>
        </p:txBody>
      </p:sp>
      <p:sp>
        <p:nvSpPr>
          <p:cNvPr id="17" name="Shape 13"/>
          <p:cNvSpPr/>
          <p:nvPr/>
        </p:nvSpPr>
        <p:spPr>
          <a:xfrm>
            <a:off x="8321040" y="3017520"/>
            <a:ext cx="3383280" cy="1645920"/>
          </a:xfrm>
          <a:prstGeom prst="roundRect">
            <a:avLst>
              <a:gd name="adj" fmla="val 5556"/>
            </a:avLst>
          </a:prstGeom>
          <a:solidFill>
            <a:srgbClr val="FFFFFF"/>
          </a:solidFill>
          <a:ln w="12700">
            <a:solidFill>
              <a:srgbClr val="DCE7F4"/>
            </a:solidFill>
            <a:prstDash val="solid"/>
          </a:ln>
          <a:effectLst>
            <a:outerShdw sx="100000" sy="100000" kx="0" ky="0" algn="bl" rotWithShape="0" blurRad="88900" dist="25400" dir="5400000">
              <a:srgbClr val="000000">
                <a:alpha val="10000"/>
              </a:srgbClr>
            </a:outerShdw>
          </a:effectLst>
        </p:spPr>
      </p:sp>
      <p:sp>
        <p:nvSpPr>
          <p:cNvPr id="18" name="Text 14"/>
          <p:cNvSpPr/>
          <p:nvPr/>
        </p:nvSpPr>
        <p:spPr>
          <a:xfrm>
            <a:off x="8595360" y="3236976"/>
            <a:ext cx="2834640" cy="292608"/>
          </a:xfrm>
          <a:prstGeom prst="rect">
            <a:avLst/>
          </a:prstGeom>
          <a:noFill/>
          <a:ln/>
        </p:spPr>
        <p:txBody>
          <a:bodyPr wrap="square" lIns="0" tIns="0" rIns="0" bIns="0" rtlCol="0" anchor="ctr"/>
          <a:lstStyle/>
          <a:p>
            <a:pPr indent="0" marL="0">
              <a:buNone/>
            </a:pPr>
            <a:r>
              <a:rPr lang="en-US" sz="1100" b="1" spc="200" kern="0" dirty="0">
                <a:solidFill>
                  <a:srgbClr val="1E78C8"/>
                </a:solidFill>
                <a:latin typeface="Calibri" pitchFamily="34" charset="0"/>
                <a:ea typeface="Calibri" pitchFamily="34" charset="-122"/>
                <a:cs typeface="Calibri" pitchFamily="34" charset="-120"/>
              </a:rPr>
              <a:t>PHASE 3</a:t>
            </a:r>
            <a:endParaRPr lang="en-US" sz="1100" dirty="0"/>
          </a:p>
        </p:txBody>
      </p:sp>
      <p:sp>
        <p:nvSpPr>
          <p:cNvPr id="19" name="Text 15"/>
          <p:cNvSpPr/>
          <p:nvPr/>
        </p:nvSpPr>
        <p:spPr>
          <a:xfrm>
            <a:off x="8595360" y="3511296"/>
            <a:ext cx="2834640" cy="411480"/>
          </a:xfrm>
          <a:prstGeom prst="rect">
            <a:avLst/>
          </a:prstGeom>
          <a:noFill/>
          <a:ln/>
        </p:spPr>
        <p:txBody>
          <a:bodyPr wrap="square" lIns="0" tIns="0" rIns="0" bIns="0" rtlCol="0" anchor="ctr"/>
          <a:lstStyle/>
          <a:p>
            <a:pPr indent="0" marL="0">
              <a:buNone/>
            </a:pPr>
            <a:r>
              <a:rPr lang="en-US" sz="1600" b="1" dirty="0">
                <a:solidFill>
                  <a:srgbClr val="0E2A6B"/>
                </a:solidFill>
                <a:latin typeface="Cambria" pitchFamily="34" charset="0"/>
                <a:ea typeface="Cambria" pitchFamily="34" charset="-122"/>
                <a:cs typeface="Cambria" pitchFamily="34" charset="-120"/>
              </a:rPr>
              <a:t>Executive Readout</a:t>
            </a:r>
            <a:endParaRPr lang="en-US" sz="1600" dirty="0"/>
          </a:p>
        </p:txBody>
      </p:sp>
      <p:sp>
        <p:nvSpPr>
          <p:cNvPr id="20" name="Text 16"/>
          <p:cNvSpPr/>
          <p:nvPr/>
        </p:nvSpPr>
        <p:spPr>
          <a:xfrm>
            <a:off x="8595360" y="3931920"/>
            <a:ext cx="2834640" cy="685800"/>
          </a:xfrm>
          <a:prstGeom prst="rect">
            <a:avLst/>
          </a:prstGeom>
          <a:noFill/>
          <a:ln/>
        </p:spPr>
        <p:txBody>
          <a:bodyPr wrap="square" lIns="0" tIns="0" rIns="0" bIns="0" rtlCol="0" anchor="ctr"/>
          <a:lstStyle/>
          <a:p>
            <a:pPr indent="0" marL="0">
              <a:lnSpc>
                <a:spcPct val="105000"/>
              </a:lnSpc>
              <a:buNone/>
            </a:pPr>
            <a:r>
              <a:rPr lang="en-US" sz="1050" dirty="0">
                <a:solidFill>
                  <a:srgbClr val="5C6A86"/>
                </a:solidFill>
                <a:latin typeface="Calibri" pitchFamily="34" charset="0"/>
                <a:ea typeface="Calibri" pitchFamily="34" charset="-122"/>
                <a:cs typeface="Calibri" pitchFamily="34" charset="-120"/>
              </a:rPr>
              <a:t>Pembacaan hasil ke Marketing Director sebagai dasar arah campaign berikutnya.</a:t>
            </a:r>
            <a:endParaRPr lang="en-US" sz="1050" dirty="0"/>
          </a:p>
        </p:txBody>
      </p:sp>
      <p:sp>
        <p:nvSpPr>
          <p:cNvPr id="21" name="Shape 17"/>
          <p:cNvSpPr/>
          <p:nvPr/>
        </p:nvSpPr>
        <p:spPr>
          <a:xfrm>
            <a:off x="640080" y="4846320"/>
            <a:ext cx="10908792" cy="960120"/>
          </a:xfrm>
          <a:prstGeom prst="roundRect">
            <a:avLst>
              <a:gd name="adj" fmla="val 9524"/>
            </a:avLst>
          </a:prstGeom>
          <a:solidFill>
            <a:srgbClr val="FBE7E5"/>
          </a:solidFill>
          <a:ln/>
        </p:spPr>
      </p:sp>
      <p:sp>
        <p:nvSpPr>
          <p:cNvPr id="22" name="Text 18"/>
          <p:cNvSpPr/>
          <p:nvPr/>
        </p:nvSpPr>
        <p:spPr>
          <a:xfrm>
            <a:off x="960120" y="4846320"/>
            <a:ext cx="10268712" cy="960120"/>
          </a:xfrm>
          <a:prstGeom prst="rect">
            <a:avLst/>
          </a:prstGeom>
          <a:noFill/>
          <a:ln/>
        </p:spPr>
        <p:txBody>
          <a:bodyPr wrap="square" lIns="0" tIns="0" rIns="0" bIns="0" rtlCol="0" anchor="ctr"/>
          <a:lstStyle/>
          <a:p>
            <a:pPr algn="l" indent="0" marL="0">
              <a:lnSpc>
                <a:spcPct val="105000"/>
              </a:lnSpc>
              <a:buNone/>
            </a:pPr>
            <a:r>
              <a:rPr lang="en-US" sz="1200" b="1" dirty="0">
                <a:solidFill>
                  <a:srgbClr val="E1251B"/>
                </a:solidFill>
                <a:latin typeface="Calibri" pitchFamily="34" charset="0"/>
                <a:ea typeface="Calibri" pitchFamily="34" charset="-122"/>
                <a:cs typeface="Calibri" pitchFamily="34" charset="-120"/>
              </a:rPr>
              <a:t>⚡ Kenapa sekarang:  </a:t>
            </a:r>
            <a:pPr algn="l" indent="0" marL="0">
              <a:lnSpc>
                <a:spcPct val="105000"/>
              </a:lnSpc>
              <a:buNone/>
            </a:pPr>
            <a:r>
              <a:rPr lang="en-US" sz="1200" dirty="0">
                <a:solidFill>
                  <a:srgbClr val="16203A"/>
                </a:solidFill>
                <a:latin typeface="Calibri" pitchFamily="34" charset="0"/>
                <a:ea typeface="Calibri" pitchFamily="34" charset="-122"/>
                <a:cs typeface="Calibri" pitchFamily="34" charset="-120"/>
              </a:rPr>
              <a:t>Baseline harus berdiri sebelum musim aktivasi lari 2026 dan campaign berikutnya dirancang, agar dampaknya punya pembanding, bukan ditebak ulang. Sementara itu Aquviva sudah bergerak di audiens muda Anda sejak Februari 2025.</a:t>
            </a:r>
            <a:endParaRPr lang="en-US" sz="1200" dirty="0"/>
          </a:p>
        </p:txBody>
      </p:sp>
      <p:sp>
        <p:nvSpPr>
          <p:cNvPr id="23" name="Text 19"/>
          <p:cNvSpPr/>
          <p:nvPr/>
        </p:nvSpPr>
        <p:spPr>
          <a:xfrm>
            <a:off x="640080" y="5989320"/>
            <a:ext cx="10908792" cy="320040"/>
          </a:xfrm>
          <a:prstGeom prst="rect">
            <a:avLst/>
          </a:prstGeom>
          <a:noFill/>
          <a:ln/>
        </p:spPr>
        <p:txBody>
          <a:bodyPr wrap="square" lIns="0" tIns="0" rIns="0" bIns="0" rtlCol="0" anchor="ctr"/>
          <a:lstStyle/>
          <a:p>
            <a:pPr algn="l" indent="0" marL="0">
              <a:buNone/>
            </a:pPr>
            <a:r>
              <a:rPr lang="en-US" sz="1150" b="1" dirty="0">
                <a:solidFill>
                  <a:srgbClr val="0E2A6B"/>
                </a:solidFill>
                <a:latin typeface="Calibri" pitchFamily="34" charset="0"/>
                <a:ea typeface="Calibri" pitchFamily="34" charset="-122"/>
                <a:cs typeface="Calibri" pitchFamily="34" charset="-120"/>
              </a:rPr>
              <a:t>Langkah pertama: sepakati jadwal keyword validation dan sample dashboard.</a:t>
            </a:r>
            <a:pPr algn="l" indent="0" marL="0">
              <a:buNone/>
            </a:pPr>
            <a:r>
              <a:rPr lang="en-US" sz="1150" dirty="0">
                <a:solidFill>
                  <a:srgbClr val="5C6A86"/>
                </a:solidFill>
                <a:latin typeface="Calibri" pitchFamily="34" charset="0"/>
                <a:ea typeface="Calibri" pitchFamily="34" charset="-122"/>
                <a:cs typeface="Calibri" pitchFamily="34" charset="-120"/>
              </a:rPr>
              <a:t>      dataxet:sonar · info@sonar.id · www.sonarplatform.com</a:t>
            </a:r>
            <a:endParaRPr lang="en-US" sz="1150" dirty="0"/>
          </a:p>
        </p:txBody>
      </p:sp>
      <p:sp>
        <p:nvSpPr>
          <p:cNvPr id="24" name="Text 20"/>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850" dirty="0">
                <a:solidFill>
                  <a:srgbClr val="5C6A86"/>
                </a:solidFill>
                <a:latin typeface="Calibri" pitchFamily="34" charset="0"/>
                <a:ea typeface="Calibri" pitchFamily="34" charset="-122"/>
                <a:cs typeface="Calibri" pitchFamily="34" charset="-120"/>
              </a:rPr>
              <a:t>CONFIDENTIAL · Le Minerale × dataxet:sonar</a:t>
            </a:r>
            <a:endParaRPr lang="en-US" sz="850" dirty="0"/>
          </a:p>
        </p:txBody>
      </p:sp>
      <p:sp>
        <p:nvSpPr>
          <p:cNvPr id="25" name="Text 21"/>
          <p:cNvSpPr/>
          <p:nvPr/>
        </p:nvSpPr>
        <p:spPr>
          <a:xfrm>
            <a:off x="10451592" y="6400800"/>
            <a:ext cx="1097280" cy="274320"/>
          </a:xfrm>
          <a:prstGeom prst="rect">
            <a:avLst/>
          </a:prstGeom>
          <a:noFill/>
          <a:ln/>
        </p:spPr>
        <p:txBody>
          <a:bodyPr wrap="square" lIns="0" tIns="0" rIns="0" bIns="0" rtlCol="0" anchor="ctr"/>
          <a:lstStyle/>
          <a:p>
            <a:pPr algn="r" indent="0" marL="0">
              <a:buNone/>
            </a:pPr>
            <a:r>
              <a:rPr lang="en-US" sz="900" dirty="0">
                <a:solidFill>
                  <a:srgbClr val="5C6A86"/>
                </a:solidFill>
                <a:latin typeface="Calibri" pitchFamily="34" charset="0"/>
                <a:ea typeface="Calibri" pitchFamily="34" charset="-122"/>
                <a:cs typeface="Calibri"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8FD"/>
        </a:solidFill>
      </p:bgPr>
    </p:bg>
    <p:spTree>
      <p:nvGrpSpPr>
        <p:cNvPr id="1" name=""/>
        <p:cNvGrpSpPr/>
        <p:nvPr/>
      </p:nvGrpSpPr>
      <p:grpSpPr>
        <a:xfrm>
          <a:off x="0" y="0"/>
          <a:ext cx="0" cy="0"/>
          <a:chOff x="0" y="0"/>
          <a:chExt cx="0" cy="0"/>
        </a:xfrm>
      </p:grpSpPr>
      <p:pic>
        <p:nvPicPr>
          <p:cNvPr id="2" name="Image 0" descr="logo_dxt.png">    </p:cNvPr>
          <p:cNvPicPr>
            <a:picLocks noChangeAspect="1"/>
          </p:cNvPicPr>
          <p:nvPr/>
        </p:nvPicPr>
        <p:blipFill>
          <a:blip r:embed="rId1"/>
          <a:stretch>
            <a:fillRect/>
          </a:stretch>
        </p:blipFill>
        <p:spPr>
          <a:xfrm>
            <a:off x="640080" y="405146"/>
            <a:ext cx="1554480" cy="195548"/>
          </a:xfrm>
          <a:prstGeom prst="rect">
            <a:avLst/>
          </a:prstGeom>
        </p:spPr>
      </p:pic>
      <p:pic>
        <p:nvPicPr>
          <p:cNvPr id="3" name="Image 1" descr="logo_lm.png">    </p:cNvPr>
          <p:cNvPicPr>
            <a:picLocks noChangeAspect="1"/>
          </p:cNvPicPr>
          <p:nvPr/>
        </p:nvPicPr>
        <p:blipFill>
          <a:blip r:embed="rId2"/>
          <a:stretch>
            <a:fillRect/>
          </a:stretch>
        </p:blipFill>
        <p:spPr>
          <a:xfrm>
            <a:off x="10944108" y="201168"/>
            <a:ext cx="604764" cy="603504"/>
          </a:xfrm>
          <a:prstGeom prst="rect">
            <a:avLst/>
          </a:prstGeom>
        </p:spPr>
      </p:pic>
      <p:sp>
        <p:nvSpPr>
          <p:cNvPr id="4" name="Text 0"/>
          <p:cNvSpPr/>
          <p:nvPr/>
        </p:nvSpPr>
        <p:spPr>
          <a:xfrm>
            <a:off x="640080" y="932688"/>
            <a:ext cx="6400800" cy="310896"/>
          </a:xfrm>
          <a:prstGeom prst="rect">
            <a:avLst/>
          </a:prstGeom>
          <a:noFill/>
          <a:ln/>
        </p:spPr>
        <p:txBody>
          <a:bodyPr wrap="square" lIns="0" tIns="0" rIns="0" bIns="0" rtlCol="0" anchor="ctr"/>
          <a:lstStyle/>
          <a:p>
            <a:pPr algn="l" indent="0" marL="0">
              <a:buNone/>
            </a:pPr>
            <a:r>
              <a:rPr lang="en-US" sz="1250" b="1" spc="300" kern="0" dirty="0">
                <a:solidFill>
                  <a:srgbClr val="5C6A86"/>
                </a:solidFill>
                <a:latin typeface="Calibri" pitchFamily="34" charset="0"/>
                <a:ea typeface="Calibri" pitchFamily="34" charset="-122"/>
                <a:cs typeface="Calibri" pitchFamily="34" charset="-120"/>
              </a:rPr>
              <a:t>REFERENSI</a:t>
            </a:r>
            <a:endParaRPr lang="en-US" sz="1250" dirty="0"/>
          </a:p>
        </p:txBody>
      </p:sp>
      <p:sp>
        <p:nvSpPr>
          <p:cNvPr id="5" name="Text 1"/>
          <p:cNvSpPr/>
          <p:nvPr/>
        </p:nvSpPr>
        <p:spPr>
          <a:xfrm>
            <a:off x="640080" y="1298448"/>
            <a:ext cx="10908792" cy="1024128"/>
          </a:xfrm>
          <a:prstGeom prst="rect">
            <a:avLst/>
          </a:prstGeom>
          <a:noFill/>
          <a:ln/>
        </p:spPr>
        <p:txBody>
          <a:bodyPr wrap="square" lIns="0" tIns="0" rIns="0" bIns="0" rtlCol="0" anchor="t"/>
          <a:lstStyle/>
          <a:p>
            <a:pPr algn="l" indent="0" marL="0">
              <a:lnSpc>
                <a:spcPct val="100000"/>
              </a:lnSpc>
              <a:buNone/>
            </a:pPr>
            <a:r>
              <a:rPr lang="en-US" sz="2350" b="1" dirty="0">
                <a:solidFill>
                  <a:srgbClr val="0E2A6B"/>
                </a:solidFill>
                <a:latin typeface="Cambria" pitchFamily="34" charset="0"/>
                <a:ea typeface="Cambria" pitchFamily="34" charset="-122"/>
                <a:cs typeface="Cambria" pitchFamily="34" charset="-120"/>
              </a:rPr>
              <a:t>Sumber &amp; Referensi</a:t>
            </a:r>
            <a:endParaRPr lang="en-US" sz="2350" dirty="0"/>
          </a:p>
        </p:txBody>
      </p:sp>
      <p:sp>
        <p:nvSpPr>
          <p:cNvPr id="6" name="Text 2"/>
          <p:cNvSpPr/>
          <p:nvPr/>
        </p:nvSpPr>
        <p:spPr>
          <a:xfrm>
            <a:off x="640080" y="2194560"/>
            <a:ext cx="10908792" cy="640080"/>
          </a:xfrm>
          <a:prstGeom prst="rect">
            <a:avLst/>
          </a:prstGeom>
          <a:noFill/>
          <a:ln/>
        </p:spPr>
        <p:txBody>
          <a:bodyPr wrap="square" lIns="0" tIns="0" rIns="0" bIns="0" rtlCol="0" anchor="t"/>
          <a:lstStyle/>
          <a:p>
            <a:pPr algn="l" indent="0" marL="0">
              <a:lnSpc>
                <a:spcPct val="105000"/>
              </a:lnSpc>
              <a:buNone/>
            </a:pPr>
            <a:r>
              <a:rPr lang="en-US" sz="1350" dirty="0">
                <a:solidFill>
                  <a:srgbClr val="5C6A86"/>
                </a:solidFill>
                <a:latin typeface="Calibri" pitchFamily="34" charset="0"/>
                <a:ea typeface="Calibri" pitchFamily="34" charset="-122"/>
                <a:cs typeface="Calibri" pitchFamily="34" charset="-120"/>
              </a:rPr>
              <a:t>Evidence yang memperkuat argumen, bukan pajangan.</a:t>
            </a:r>
            <a:endParaRPr lang="en-US" sz="13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908792" cy="914400"/>
        </p:xfrm>
        <a:graphic>
          <a:graphicData uri="http://schemas.openxmlformats.org/drawingml/2006/table">
            <a:tbl>
              <a:tblPr/>
              <a:tblGrid>
                <a:gridCol w="2834640"/>
                <a:gridCol w="1188720"/>
                <a:gridCol w="5486400"/>
                <a:gridCol w="1371600"/>
              </a:tblGrid>
              <a:tr h="310896">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Sumber</a:t>
                      </a:r>
                      <a:endParaRPr lang="en-US" sz="10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0E2A6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Tanggal</a:t>
                      </a:r>
                      <a:endParaRPr lang="en-US" sz="10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0E2A6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Data / Klaim yang Dipakai</a:t>
                      </a:r>
                      <a:endParaRPr lang="en-US" sz="10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0E2A6B"/>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Slide</a:t>
                      </a:r>
                      <a:endParaRPr lang="en-US" sz="10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0E2A6B"/>
                    </a:solidFill>
                  </a:tcPr>
                </a:tc>
              </a:tr>
              <a:tr h="310896">
                <a:tc>
                  <a:txBody>
                    <a:bodyPr/>
                    <a:lstStyle/>
                    <a:p>
                      <a:pPr algn="l" indent="0" marL="0">
                        <a:buNone/>
                      </a:pPr>
                      <a:r>
                        <a:rPr lang="en-US" sz="950" b="1" dirty="0">
                          <a:solidFill>
                            <a:srgbClr val="0E2A6B"/>
                          </a:solidFill>
                          <a:latin typeface="Calibri" pitchFamily="34" charset="0"/>
                          <a:ea typeface="Calibri" pitchFamily="34" charset="-122"/>
                          <a:cs typeface="Calibri" pitchFamily="34" charset="-120"/>
                        </a:rPr>
                        <a:t>enciety.co</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Jan 2026</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TBI Le Minerale 4,6%→18,8%; Aqua 62,5%→46,9%; pasar ~USD 3,9 M</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1, 4</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r>
              <a:tr h="310896">
                <a:tc>
                  <a:txBody>
                    <a:bodyPr/>
                    <a:lstStyle/>
                    <a:p>
                      <a:pPr algn="l" indent="0" marL="0">
                        <a:buNone/>
                      </a:pPr>
                      <a:r>
                        <a:rPr lang="en-US" sz="950" b="1" dirty="0">
                          <a:solidFill>
                            <a:srgbClr val="0E2A6B"/>
                          </a:solidFill>
                          <a:latin typeface="Calibri" pitchFamily="34" charset="0"/>
                          <a:ea typeface="Calibri" pitchFamily="34" charset="-122"/>
                          <a:cs typeface="Calibri" pitchFamily="34" charset="-120"/>
                        </a:rPr>
                        <a:t>Kompas: Pemilik Aquviva</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Jun 2025</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Aquviva (Wings) launch 25 Feb 2025; target eksplisit Gen Z</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r>
              <a:tr h="310896">
                <a:tc>
                  <a:txBody>
                    <a:bodyPr/>
                    <a:lstStyle/>
                    <a:p>
                      <a:pPr algn="l" indent="0" marL="0">
                        <a:buNone/>
                      </a:pPr>
                      <a:r>
                        <a:rPr lang="en-US" sz="950" b="1" dirty="0">
                          <a:solidFill>
                            <a:srgbClr val="0E2A6B"/>
                          </a:solidFill>
                          <a:latin typeface="Calibri" pitchFamily="34" charset="0"/>
                          <a:ea typeface="Calibri" pitchFamily="34" charset="-122"/>
                          <a:cs typeface="Calibri" pitchFamily="34" charset="-120"/>
                        </a:rPr>
                        <a:t>Wartakota / Tribunnews</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Feb 2025</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Peluncuran Aquviva; 7 tahap nano-purifikasi</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r>
              <a:tr h="310896">
                <a:tc>
                  <a:txBody>
                    <a:bodyPr/>
                    <a:lstStyle/>
                    <a:p>
                      <a:pPr algn="l" indent="0" marL="0">
                        <a:buNone/>
                      </a:pPr>
                      <a:r>
                        <a:rPr lang="en-US" sz="950" b="1" dirty="0">
                          <a:solidFill>
                            <a:srgbClr val="0E2A6B"/>
                          </a:solidFill>
                          <a:latin typeface="Calibri" pitchFamily="34" charset="0"/>
                          <a:ea typeface="Calibri" pitchFamily="34" charset="-122"/>
                          <a:cs typeface="Calibri" pitchFamily="34" charset="-120"/>
                        </a:rPr>
                        <a:t>IDN Times: JRF 2025</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2025</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JRF Official Mineral Water; 27.300 pelari, 48 negara</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r>
              <a:tr h="310896">
                <a:tc>
                  <a:txBody>
                    <a:bodyPr/>
                    <a:lstStyle/>
                    <a:p>
                      <a:pPr algn="l" indent="0" marL="0">
                        <a:buNone/>
                      </a:pPr>
                      <a:r>
                        <a:rPr lang="en-US" sz="950" b="1" dirty="0">
                          <a:solidFill>
                            <a:srgbClr val="0E2A6B"/>
                          </a:solidFill>
                          <a:latin typeface="Calibri" pitchFamily="34" charset="0"/>
                          <a:ea typeface="Calibri" pitchFamily="34" charset="-122"/>
                          <a:cs typeface="Calibri" pitchFamily="34" charset="-120"/>
                        </a:rPr>
                        <a:t>Le Minerale Newsroom: JAKIM</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Jun 2025</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JAKIM Official Mineral Water; 31.000+ peserta</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r>
              <a:tr h="310896">
                <a:tc>
                  <a:txBody>
                    <a:bodyPr/>
                    <a:lstStyle/>
                    <a:p>
                      <a:pPr algn="l" indent="0" marL="0">
                        <a:buNone/>
                      </a:pPr>
                      <a:r>
                        <a:rPr lang="en-US" sz="950" b="1" dirty="0">
                          <a:solidFill>
                            <a:srgbClr val="0E2A6B"/>
                          </a:solidFill>
                          <a:latin typeface="Calibri" pitchFamily="34" charset="0"/>
                          <a:ea typeface="Calibri" pitchFamily="34" charset="-122"/>
                          <a:cs typeface="Calibri" pitchFamily="34" charset="-120"/>
                        </a:rPr>
                        <a:t>Tempo: Aturan BPOM soal BPA</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2024</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PerBPOM No. 6/2024; regulasi BPA aktif, transisi 4 tahun</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r>
              <a:tr h="310896">
                <a:tc>
                  <a:txBody>
                    <a:bodyPr/>
                    <a:lstStyle/>
                    <a:p>
                      <a:pPr algn="l" indent="0" marL="0">
                        <a:buNone/>
                      </a:pPr>
                      <a:r>
                        <a:rPr lang="en-US" sz="950" b="1" dirty="0">
                          <a:solidFill>
                            <a:srgbClr val="0E2A6B"/>
                          </a:solidFill>
                          <a:latin typeface="Calibri" pitchFamily="34" charset="0"/>
                          <a:ea typeface="Calibri" pitchFamily="34" charset="-122"/>
                          <a:cs typeface="Calibri" pitchFamily="34" charset="-120"/>
                        </a:rPr>
                        <a:t>Ekuatorial: Pelabelan BPA</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Des 2024</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Polemik narasi BPA Free vs kompetitor</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r>
              <a:tr h="310896">
                <a:tc>
                  <a:txBody>
                    <a:bodyPr/>
                    <a:lstStyle/>
                    <a:p>
                      <a:pPr algn="l" indent="0" marL="0">
                        <a:buNone/>
                      </a:pPr>
                      <a:r>
                        <a:rPr lang="en-US" sz="950" b="1" dirty="0">
                          <a:solidFill>
                            <a:srgbClr val="0E2A6B"/>
                          </a:solidFill>
                          <a:latin typeface="Calibri" pitchFamily="34" charset="0"/>
                          <a:ea typeface="Calibri" pitchFamily="34" charset="-122"/>
                          <a:cs typeface="Calibri" pitchFamily="34" charset="-120"/>
                        </a:rPr>
                        <a:t>Bisnis.com: Le Minerale</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Agu 2025</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Gold Marketeers Youth Choice 2025 (Gen Z)</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1, 4</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r>
              <a:tr h="310896">
                <a:tc>
                  <a:txBody>
                    <a:bodyPr/>
                    <a:lstStyle/>
                    <a:p>
                      <a:pPr algn="l" indent="0" marL="0">
                        <a:buNone/>
                      </a:pPr>
                      <a:r>
                        <a:rPr lang="en-US" sz="950" b="1" dirty="0">
                          <a:solidFill>
                            <a:srgbClr val="0E2A6B"/>
                          </a:solidFill>
                          <a:latin typeface="Calibri" pitchFamily="34" charset="0"/>
                          <a:ea typeface="Calibri" pitchFamily="34" charset="-122"/>
                          <a:cs typeface="Calibri" pitchFamily="34" charset="-120"/>
                        </a:rPr>
                        <a:t>Liputan6: Mayora 2024</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2025</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Penjualan MYOR Rp36,07 T (+14,57% YoY)</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FFFFFF"/>
                    </a:solidFill>
                  </a:tcPr>
                </a:tc>
              </a:tr>
              <a:tr h="310896">
                <a:tc>
                  <a:txBody>
                    <a:bodyPr/>
                    <a:lstStyle/>
                    <a:p>
                      <a:pPr algn="l" indent="0" marL="0">
                        <a:buNone/>
                      </a:pPr>
                      <a:r>
                        <a:rPr lang="en-US" sz="950" b="1" dirty="0">
                          <a:solidFill>
                            <a:srgbClr val="0E2A6B"/>
                          </a:solidFill>
                          <a:latin typeface="Calibri" pitchFamily="34" charset="0"/>
                          <a:ea typeface="Calibri" pitchFamily="34" charset="-122"/>
                          <a:cs typeface="Calibri" pitchFamily="34" charset="-120"/>
                        </a:rPr>
                        <a:t>TikTok: @leminerale_id</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2025</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~312K followers; narasi active lifestyle (perlu validasi)</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c>
                  <a:txBody>
                    <a:bodyPr/>
                    <a:lstStyle/>
                    <a:p>
                      <a:pPr algn="l" indent="0" marL="0">
                        <a:buNone/>
                      </a:pPr>
                      <a:r>
                        <a:rPr lang="en-US" sz="950" dirty="0">
                          <a:solidFill>
                            <a:srgbClr val="16203A"/>
                          </a:solidFill>
                          <a:latin typeface="Calibri" pitchFamily="34" charset="0"/>
                          <a:ea typeface="Calibri" pitchFamily="34" charset="-122"/>
                          <a:cs typeface="Calibri" pitchFamily="34" charset="-120"/>
                        </a:rPr>
                        <a:t>7, 8</a:t>
                      </a:r>
                      <a:endParaRPr lang="en-US" sz="950" dirty="0">
                        <a:latin typeface="Calibri" charset="0"/>
                        <a:ea typeface="Calibri" charset="0"/>
                        <a:cs typeface="Calibri" charset="0"/>
                      </a:endParaRPr>
                    </a:p>
                  </a:txBody>
                  <a:tcPr marL="50800" marR="50800" marT="25400" marB="25400" anchor="ctr">
                    <a:lnL w="6350" cap="flat" cmpd="sng" algn="ctr">
                      <a:solidFill>
                        <a:srgbClr val="DCE7F4"/>
                      </a:solidFill>
                      <a:prstDash val="solid"/>
                      <a:round/>
                      <a:headEnd type="none" w="med" len="med"/>
                      <a:tailEnd type="none" w="med" len="med"/>
                    </a:lnL>
                    <a:lnR w="6350" cap="flat" cmpd="sng" algn="ctr">
                      <a:solidFill>
                        <a:srgbClr val="DCE7F4"/>
                      </a:solidFill>
                      <a:prstDash val="solid"/>
                      <a:round/>
                      <a:headEnd type="none" w="med" len="med"/>
                      <a:tailEnd type="none" w="med" len="med"/>
                    </a:lnR>
                    <a:lnT w="6350" cap="flat" cmpd="sng" algn="ctr">
                      <a:solidFill>
                        <a:srgbClr val="DCE7F4"/>
                      </a:solidFill>
                      <a:prstDash val="solid"/>
                      <a:round/>
                      <a:headEnd type="none" w="med" len="med"/>
                      <a:tailEnd type="none" w="med" len="med"/>
                    </a:lnT>
                    <a:lnB w="6350" cap="flat" cmpd="sng" algn="ctr">
                      <a:solidFill>
                        <a:srgbClr val="DCE7F4"/>
                      </a:solidFill>
                      <a:prstDash val="solid"/>
                      <a:round/>
                      <a:headEnd type="none" w="med" len="med"/>
                      <a:tailEnd type="none" w="med" len="med"/>
                    </a:lnB>
                    <a:solidFill>
                      <a:srgbClr val="EAF2FB"/>
                    </a:solidFill>
                  </a:tcPr>
                </a:tc>
              </a:tr>
            </a:tbl>
          </a:graphicData>
        </a:graphic>
      </p:graphicFrame>
      <p:sp>
        <p:nvSpPr>
          <p:cNvPr id="8" name="Text 3"/>
          <p:cNvSpPr/>
          <p:nvPr/>
        </p:nvSpPr>
        <p:spPr>
          <a:xfrm>
            <a:off x="640080" y="6400800"/>
            <a:ext cx="6400800" cy="274320"/>
          </a:xfrm>
          <a:prstGeom prst="rect">
            <a:avLst/>
          </a:prstGeom>
          <a:noFill/>
          <a:ln/>
        </p:spPr>
        <p:txBody>
          <a:bodyPr wrap="square" lIns="0" tIns="0" rIns="0" bIns="0" rtlCol="0" anchor="ctr"/>
          <a:lstStyle/>
          <a:p>
            <a:pPr algn="l" indent="0" marL="0">
              <a:buNone/>
            </a:pPr>
            <a:r>
              <a:rPr lang="en-US" sz="850" dirty="0">
                <a:solidFill>
                  <a:srgbClr val="5C6A86"/>
                </a:solidFill>
                <a:latin typeface="Calibri" pitchFamily="34" charset="0"/>
                <a:ea typeface="Calibri" pitchFamily="34" charset="-122"/>
                <a:cs typeface="Calibri" pitchFamily="34" charset="-120"/>
              </a:rPr>
              <a:t>CONFIDENTIAL · Le Minerale × dataxet:sonar</a:t>
            </a:r>
            <a:endParaRPr lang="en-US" sz="850" dirty="0"/>
          </a:p>
        </p:txBody>
      </p:sp>
      <p:sp>
        <p:nvSpPr>
          <p:cNvPr id="9" name="Text 4"/>
          <p:cNvSpPr/>
          <p:nvPr/>
        </p:nvSpPr>
        <p:spPr>
          <a:xfrm>
            <a:off x="10451592" y="6400800"/>
            <a:ext cx="1097280" cy="274320"/>
          </a:xfrm>
          <a:prstGeom prst="rect">
            <a:avLst/>
          </a:prstGeom>
          <a:noFill/>
          <a:ln/>
        </p:spPr>
        <p:txBody>
          <a:bodyPr wrap="square" lIns="0" tIns="0" rIns="0" bIns="0" rtlCol="0" anchor="ctr"/>
          <a:lstStyle/>
          <a:p>
            <a:pPr algn="r" indent="0" marL="0">
              <a:buNone/>
            </a:pPr>
            <a:r>
              <a:rPr lang="en-US" sz="900" dirty="0">
                <a:solidFill>
                  <a:srgbClr val="5C6A86"/>
                </a:solidFill>
                <a:latin typeface="Calibri" pitchFamily="34" charset="0"/>
                <a:ea typeface="Calibri" pitchFamily="34" charset="-122"/>
                <a:cs typeface="Calibri" pitchFamily="34" charset="-120"/>
              </a:rPr>
              <a:t>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2026-06-25T02:52:28Z</dcterms:created>
  <dcterms:modified xsi:type="dcterms:W3CDTF">2026-06-25T02:52:28Z</dcterms:modified>
</cp:coreProperties>
</file>