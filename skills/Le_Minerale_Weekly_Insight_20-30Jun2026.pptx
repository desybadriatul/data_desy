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Voice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C1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3D9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FB2C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Aqua</c:v>
                  </c:pt>
                  <c:pt idx="1">
                    <c:v>Le Minerale</c:v>
                  </c:pt>
                  <c:pt idx="2">
                    <c:v>Club</c:v>
                  </c:pt>
                  <c:pt idx="3">
                    <c:v>Pristine</c:v>
                  </c:pt>
                  <c:pt idx="4">
                    <c:v>Cleo</c:v>
                  </c:pt>
                  <c:pt idx="5">
                    <c:v>Crystalline</c:v>
                  </c:pt>
                  <c:pt idx="6">
                    <c:v>Aquviva</c:v>
                  </c:pt>
                  <c:pt idx="7">
                    <c:v>Nestlé PL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51.6</c:v>
                </c:pt>
                <c:pt idx="1">
                  <c:v>24.5</c:v>
                </c:pt>
                <c:pt idx="2">
                  <c:v>9.6</c:v>
                </c:pt>
                <c:pt idx="3">
                  <c:v>6.2</c:v>
                </c:pt>
                <c:pt idx="4">
                  <c:v>3.3</c:v>
                </c:pt>
                <c:pt idx="5">
                  <c:v>2.1</c:v>
                </c:pt>
                <c:pt idx="6">
                  <c:v>1.9</c:v>
                </c:pt>
                <c:pt idx="7">
                  <c:v>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C1D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A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post</c:v>
                </c:pt>
              </c:strCache>
            </c:strRef>
          </c:tx>
          <c:spPr>
            <a:solidFill>
              <a:srgbClr val="1C6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21</c:v>
                  </c:pt>
                  <c:pt idx="2">
                    <c:v>22</c:v>
                  </c:pt>
                  <c:pt idx="3">
                    <c:v>23</c:v>
                  </c:pt>
                  <c:pt idx="4">
                    <c:v>24</c:v>
                  </c:pt>
                  <c:pt idx="5">
                    <c:v>25</c:v>
                  </c:pt>
                  <c:pt idx="6">
                    <c:v>26</c:v>
                  </c:pt>
                  <c:pt idx="7">
                    <c:v>27</c:v>
                  </c:pt>
                  <c:pt idx="8">
                    <c:v>28</c:v>
                  </c:pt>
                  <c:pt idx="9">
                    <c:v>29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281</c:v>
                </c:pt>
                <c:pt idx="1">
                  <c:v>268</c:v>
                </c:pt>
                <c:pt idx="2">
                  <c:v>184</c:v>
                </c:pt>
                <c:pt idx="3">
                  <c:v>113</c:v>
                </c:pt>
                <c:pt idx="4">
                  <c:v>119</c:v>
                </c:pt>
                <c:pt idx="5">
                  <c:v>107</c:v>
                </c:pt>
                <c:pt idx="6">
                  <c:v>205</c:v>
                </c:pt>
                <c:pt idx="7">
                  <c:v>502</c:v>
                </c:pt>
                <c:pt idx="8">
                  <c:v>102</c:v>
                </c:pt>
                <c:pt idx="9">
                  <c:v>86</c:v>
                </c:pt>
                <c:pt idx="10">
                  <c:v>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sentiment</c:v>
                </c:pt>
              </c:strCache>
            </c:strRef>
          </c:tx>
          <c:spPr>
            <a:solidFill>
              <a:srgbClr val="E8543F"/>
            </a:solidFill>
            <a:ln w="38100" cap="flat">
              <a:solidFill>
                <a:srgbClr val="E854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543F"/>
              </a:solidFill>
              <a:ln w="9525" cap="flat">
                <a:solidFill>
                  <a:srgbClr val="E854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21</c:v>
                  </c:pt>
                  <c:pt idx="2">
                    <c:v>22</c:v>
                  </c:pt>
                  <c:pt idx="3">
                    <c:v>23</c:v>
                  </c:pt>
                  <c:pt idx="4">
                    <c:v>24</c:v>
                  </c:pt>
                  <c:pt idx="5">
                    <c:v>25</c:v>
                  </c:pt>
                  <c:pt idx="6">
                    <c:v>26</c:v>
                  </c:pt>
                  <c:pt idx="7">
                    <c:v>27</c:v>
                  </c:pt>
                  <c:pt idx="8">
                    <c:v>28</c:v>
                  </c:pt>
                  <c:pt idx="9">
                    <c:v>29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31</c:v>
                </c:pt>
                <c:pt idx="1">
                  <c:v>24</c:v>
                </c:pt>
                <c:pt idx="2">
                  <c:v>28</c:v>
                </c:pt>
                <c:pt idx="3">
                  <c:v>34</c:v>
                </c:pt>
                <c:pt idx="4">
                  <c:v>45</c:v>
                </c:pt>
                <c:pt idx="5">
                  <c:v>42</c:v>
                </c:pt>
                <c:pt idx="6">
                  <c:v>14</c:v>
                </c:pt>
                <c:pt idx="7">
                  <c:v>-83</c:v>
                </c:pt>
                <c:pt idx="8">
                  <c:v>37</c:v>
                </c:pt>
                <c:pt idx="9">
                  <c:v>35</c:v>
                </c:pt>
                <c:pt idx="10">
                  <c:v>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635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A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-100"/>
        </c:scaling>
        <c:delete val="0"/>
        <c:axPos val="r"/>
        <c:majorGridlines>
          <c:spPr>
            <a:ln w="635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543F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E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A5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Volume post</c:v>
                </c:pt>
              </c:strCache>
            </c:strRef>
          </c:tx>
          <c:spPr>
            <a:solidFill>
              <a:srgbClr val="9FB2C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C1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 / Twitter</c:v>
                  </c:pt>
                  <c:pt idx="1">
                    <c:v>TikTok</c:v>
                  </c:pt>
                  <c:pt idx="2">
                    <c:v>Instagram</c:v>
                  </c:pt>
                  <c:pt idx="3">
                    <c:v>Lainnya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54.8</c:v>
                </c:pt>
                <c:pt idx="1">
                  <c:v>27.8</c:v>
                </c:pt>
                <c:pt idx="2">
                  <c:v>10.7</c:v>
                </c:pt>
                <c:pt idx="3">
                  <c:v>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Engagement</c:v>
                </c:pt>
              </c:strCache>
            </c:strRef>
          </c:tx>
          <c:spPr>
            <a:solidFill>
              <a:srgbClr val="27B6D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C1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 / Twitter</c:v>
                  </c:pt>
                  <c:pt idx="1">
                    <c:v>TikTok</c:v>
                  </c:pt>
                  <c:pt idx="2">
                    <c:v>Instagram</c:v>
                  </c:pt>
                  <c:pt idx="3">
                    <c:v>Lainnya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34.2</c:v>
                </c:pt>
                <c:pt idx="2">
                  <c:v>64.8</c:v>
                </c:pt>
                <c:pt idx="3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C1D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A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A5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0B3D9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0E8FB0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0945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INSIGHT  ·  WEEKLY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Minerale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AE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tengah percakapan AMDK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Aqua · Club · Pristine · Cleo · Nestlé Pure Life · Aquviva · Crystalline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20–30 Juni 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9.305 percakapan · 8 brand · 6 kanal (X, TikTok, Instagram, Online Media, YouTube, Facebook)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 Le Minerale sehat — tapi hari terbesarnya bukan kemenangan brand, melainkan rumor harga.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112264"/>
            <a:ext cx="566928" cy="566928"/>
          </a:xfrm>
          <a:prstGeom prst="ellipse">
            <a:avLst/>
          </a:prstGeom>
          <a:solidFill>
            <a:srgbClr val="E7EF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225966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715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4088" y="33558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— peringkat #2, di bawah Aqua (51,6%)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346704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112264"/>
            <a:ext cx="566928" cy="566928"/>
          </a:xfrm>
          <a:prstGeom prst="ellipse">
            <a:avLst/>
          </a:prstGeom>
          <a:solidFill>
            <a:srgbClr val="E5F5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561" y="225966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715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+12,2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547872" y="33558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(basis jumlah); +57,4 jika ditimbang engagement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190488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2112264"/>
            <a:ext cx="566928" cy="566928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345" y="225966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715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391656" y="33558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pada 27 Jun (2,5× rata-rata) — didominasi negatif 179 vs 96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9034272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53728" y="2112264"/>
            <a:ext cx="566928" cy="566928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129" y="225966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715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9235440" y="33558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datang dari IG + TikTok; X isi 55% volume tapi ~0 engagement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02920" y="4069080"/>
            <a:ext cx="11183112" cy="1234440"/>
          </a:xfrm>
          <a:prstGeom prst="roundRect">
            <a:avLst>
              <a:gd name="adj" fmla="val 7407"/>
            </a:avLst>
          </a:prstGeom>
          <a:solidFill>
            <a:srgbClr val="0C1D33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315968"/>
            <a:ext cx="731520" cy="731520"/>
          </a:xfrm>
          <a:prstGeom prst="ellipse">
            <a:avLst/>
          </a:prstGeom>
          <a:solidFill>
            <a:srgbClr val="1229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50616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691640" y="455371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Minerale menang di kedalaman (advokasi atlet &amp; konsumen), rentan di kecepatan (rumor harga). Yang perlu dijaga bukan volume percakapan — tapi narasi harga.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laporan: Peta persaingan → Titik tegang (27 Jun) → Bukti → Reframe → Rekomendasi per tim → Keputusan minggu ini.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— PETA PERCAKAPAN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Minerale #2 yang kokoh, tapi Aqua menguasai separuh percakapan kategori.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73152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205740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28432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4788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534" y="22457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1540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Baca cepat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47888" y="278892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memimpin buzz 2,1× lipat Le Minerale — dominasi kategori masih milik pemimpin pasar.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Minerale unggul jelas atas pesaing tier-2: 2,5× Club dan 4× Pristine.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 Aqua &amp; Club banyak ditopang Online Media (rilis/berita), bukan kecintaan organik.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02920" y="63276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 untuk tim Brand: fokus bukan mengejar volume Aqua, tapi menjaga kualitas percakapan yang jadi keunggulan Le Minerale.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TEGANG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melonjak 2,5× pada 27 Juni — dan justru saat itu sentimen berbalik negatif.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7635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58368" y="2103120"/>
          <a:ext cx="73609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5870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Sumbu-x: tanggal Juni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339328" y="1874520"/>
            <a:ext cx="3346704" cy="4343400"/>
          </a:xfrm>
          <a:prstGeom prst="roundRect">
            <a:avLst>
              <a:gd name="adj" fmla="val 2186"/>
            </a:avLst>
          </a:prstGeom>
          <a:solidFill>
            <a:srgbClr val="FBE7E2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58784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430" y="22457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17152" y="21579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Lonjakan 27 Juni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558784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dalam sehari (rata-rata 204)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8558784" y="3840480"/>
            <a:ext cx="146304" cy="146304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13" name="Text 9"/>
          <p:cNvSpPr/>
          <p:nvPr/>
        </p:nvSpPr>
        <p:spPr>
          <a:xfrm>
            <a:off x="8796528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014984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58784" y="4297680"/>
            <a:ext cx="146304" cy="146304"/>
          </a:xfrm>
          <a:prstGeom prst="ellipse">
            <a:avLst/>
          </a:prstGeom>
          <a:solidFill>
            <a:srgbClr val="5B6B7F"/>
          </a:solidFill>
          <a:ln/>
        </p:spPr>
      </p:sp>
      <p:sp>
        <p:nvSpPr>
          <p:cNvPr id="16" name="Text 12"/>
          <p:cNvSpPr/>
          <p:nvPr/>
        </p:nvSpPr>
        <p:spPr>
          <a:xfrm>
            <a:off x="8796528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14984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558784" y="4754880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9" name="Text 15"/>
          <p:cNvSpPr/>
          <p:nvPr/>
        </p:nvSpPr>
        <p:spPr>
          <a:xfrm>
            <a:off x="8796528" y="4681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149840" y="468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58784" y="5257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pertama kali dalam periode ini, negatif &gt; positif dalam satu hari.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63276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Pertanyaannya: seberapa dalam kerusakannya — atau ini kebisingan dangkal yang justru dikoreksi warganet sendiri?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LONJAKAN 27 JUNI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Pemicunya satu twit salah baca — dan sebagian besar “negatif” justru warganet yang mengoreksinya.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60273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2176272"/>
            <a:ext cx="603504" cy="603504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75" y="233318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0428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Pemicu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8952" y="2944368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twit viral mengklaim Le Minerale 600ml “tembus Rp6.400”, dari harga ~Rp4.000-an — memantik kepanikan harga.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58952" y="4315968"/>
            <a:ext cx="3090672" cy="713232"/>
          </a:xfrm>
          <a:prstGeom prst="roundRect">
            <a:avLst>
              <a:gd name="adj" fmla="val 7692"/>
            </a:avLst>
          </a:prstGeom>
          <a:solidFill>
            <a:srgbClr val="F1F5FA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" y="4315968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“HAH LE MINERALE UDAH NYENTUH 6.400?!!”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06824" y="1920240"/>
            <a:ext cx="360273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176272"/>
            <a:ext cx="603504" cy="603504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479" y="2333183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6944" y="230428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Koreksi warganet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2944368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akun menunjukkan label sebenarnya bertuliskan promo “beli 2 lebih hemat” — jadi Rp6.400 untuk dua botol, bukan satu.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562856" y="4315968"/>
            <a:ext cx="3090672" cy="713232"/>
          </a:xfrm>
          <a:prstGeom prst="roundRect">
            <a:avLst>
              <a:gd name="adj" fmla="val 7692"/>
            </a:avLst>
          </a:prstGeom>
          <a:solidFill>
            <a:srgbClr val="F1F5FA"/>
          </a:solidFill>
          <a:ln/>
        </p:spPr>
      </p:sp>
      <p:sp>
        <p:nvSpPr>
          <p:cNvPr id="17" name="Text 13"/>
          <p:cNvSpPr/>
          <p:nvPr/>
        </p:nvSpPr>
        <p:spPr>
          <a:xfrm>
            <a:off x="4709160" y="4315968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“itu ada tulisannya beli 2 lebih hemat, dibaca dulu ya”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10728" y="1920240"/>
            <a:ext cx="360273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8472" y="2176272"/>
            <a:ext cx="603504" cy="603504"/>
          </a:xfrm>
          <a:prstGeom prst="ellipse">
            <a:avLst/>
          </a:prstGeom>
          <a:solidFill>
            <a:srgbClr val="E5F5E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383" y="2333183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70848" y="2304288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Respons brand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66760" y="2944368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2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Minerale menerbitkan post KLARIFIKASI di Instagram pada hari yang sama — meraih 17.518 engagement, bersentimen positif.</a:t>
            </a:r>
            <a:endParaRPr lang="en-US" sz="1120" dirty="0"/>
          </a:p>
        </p:txBody>
      </p:sp>
      <p:sp>
        <p:nvSpPr>
          <p:cNvPr id="23" name="Shape 18"/>
          <p:cNvSpPr/>
          <p:nvPr/>
        </p:nvSpPr>
        <p:spPr>
          <a:xfrm>
            <a:off x="8366760" y="4315968"/>
            <a:ext cx="3090672" cy="713232"/>
          </a:xfrm>
          <a:prstGeom prst="roundRect">
            <a:avLst>
              <a:gd name="adj" fmla="val 7692"/>
            </a:avLst>
          </a:prstGeom>
          <a:solidFill>
            <a:srgbClr val="F1F5FA"/>
          </a:solidFill>
          <a:ln/>
        </p:spPr>
      </p:sp>
      <p:sp>
        <p:nvSpPr>
          <p:cNvPr id="24" name="Text 19"/>
          <p:cNvSpPr/>
          <p:nvPr/>
        </p:nvSpPr>
        <p:spPr>
          <a:xfrm>
            <a:off x="8513064" y="4315968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“KLARIFIKASI 📢” — IG @le_mineraleid, 27 Jun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539496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EAF1FA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" y="53949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 yang menempel: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koreksi menang, residunya adalah asosiasi “harga naik / mahal / boros plastik” yang kini melekat ke brand. Kebisingan mereda; persepsi harga tidak.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KOMPETITIF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Dibanding pesaing, sentimen Le Minerale positif — tapi bobot negatifnya termasuk yang paling tinggi.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371600"/>
                <a:gridCol w="1874520"/>
                <a:gridCol w="2148840"/>
                <a:gridCol w="1280160"/>
                <a:gridCol w="2359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(buzz)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(jumlah)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(eng-weighted)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Negatif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Kanal dominan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/ Online 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Minerale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5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/ TikTok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5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Media / 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Pristine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Aquviva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5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1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Nestlé Pure Life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5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baca: 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eng-weighted menimbang sentimen dengan besaran engagement — Aquviva +24 (jumlah) tapi −61 (eng-weighted) berarti konten paling ramainya justru negatif. Le Minerale sehat di kedua basis, namun %negatif 20,4% (mostly dari X) adalah eksposur yang perlu dijaga.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023360"/>
            <a:ext cx="3840480" cy="3840480"/>
          </a:xfrm>
          <a:prstGeom prst="ellipse">
            <a:avLst/>
          </a:prstGeom>
          <a:solidFill>
            <a:srgbClr val="0B3D91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≠ Value: kebisingan dan kecintaan hidup di dua kanal berbeda.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58368" y="2121408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148840"/>
            <a:ext cx="548640" cy="548640"/>
          </a:xfrm>
          <a:prstGeom prst="ellipse">
            <a:avLst/>
          </a:prstGeom>
          <a:solidFill>
            <a:srgbClr val="1229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886" y="22914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0" y="21305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X/Twitter = 55% volume, ~0% engagement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321040" y="26517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Panggung teks cepat tempat rumor harga menyebar. Ramai di angka, dangkal di dampak.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7635240" y="3538728"/>
            <a:ext cx="548640" cy="548640"/>
          </a:xfrm>
          <a:prstGeom prst="ellipse">
            <a:avLst/>
          </a:prstGeom>
          <a:solidFill>
            <a:srgbClr val="1229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886" y="3681374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 + TikTok = 99% engagement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321040" y="40416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kecintaan nyata terbentuk — konten atlet, Running Squad, momen konsumen.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7635240" y="4928616"/>
            <a:ext cx="548640" cy="548640"/>
          </a:xfrm>
          <a:prstGeom prst="ellipse">
            <a:avLst/>
          </a:prstGeom>
          <a:solidFill>
            <a:srgbClr val="1229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886" y="5071262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49103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Konsekuensi strategi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321040" y="543153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kesehatan brand dari total buzz akan menyesatkan; ukur di mana engagement terkonsentrasi.</a:t>
            </a:r>
            <a:endParaRPr lang="en-US" sz="1080" dirty="0"/>
          </a:p>
        </p:txBody>
      </p:sp>
      <p:sp>
        <p:nvSpPr>
          <p:cNvPr id="19" name="Text 13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KEKUATAN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Aset Le Minerale nyata: advokasi konsumen tertinggi di kategori dan mesin konten gaya hidup.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E5F5EC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1396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22870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743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Advocacy Ratio tertinggi di antara merek AMDK (survei 3.000+ konsumen)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02920" y="406908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42885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7" y="44359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" y="486460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 rb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3A4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organik; puncak 24 Jun (95,7 rb) dari konten Running Squad &amp; HYROX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3913632" y="1920240"/>
            <a:ext cx="7772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60520" y="2084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Konten pendorong engagement tertinggi (20–30 Jun)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160520" y="2606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Persija × Le Minerale — “Le Minerale Squad”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4160520" y="29169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24 Jun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784080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20.031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160520" y="3227832"/>
            <a:ext cx="7269480" cy="0"/>
          </a:xfrm>
          <a:prstGeom prst="line">
            <a:avLst/>
          </a:prstGeom>
          <a:noFill/>
          <a:ln w="9525">
            <a:solidFill>
              <a:srgbClr val="E4EA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60520" y="3282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“…pake le minerale aja” (meme BBM naik)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4160520" y="3593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21 Jun · 305 rb views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784080" y="3300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B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26.485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160520" y="3904488"/>
            <a:ext cx="7269480" cy="0"/>
          </a:xfrm>
          <a:prstGeom prst="line">
            <a:avLst/>
          </a:prstGeom>
          <a:noFill/>
          <a:ln w="9525">
            <a:solidFill>
              <a:srgbClr val="E4EAF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39593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Half-marathon BTN JAKIM — Running Squad</a:t>
            </a:r>
            <a:endParaRPr lang="en-US" sz="1180" dirty="0"/>
          </a:p>
        </p:txBody>
      </p:sp>
      <p:sp>
        <p:nvSpPr>
          <p:cNvPr id="23" name="Text 19"/>
          <p:cNvSpPr/>
          <p:nvPr/>
        </p:nvSpPr>
        <p:spPr>
          <a:xfrm>
            <a:off x="4160520" y="4270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24 Jun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97840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17.556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160520" y="4581144"/>
            <a:ext cx="7269480" cy="0"/>
          </a:xfrm>
          <a:prstGeom prst="line">
            <a:avLst/>
          </a:prstGeom>
          <a:noFill/>
          <a:ln w="9525">
            <a:solidFill>
              <a:srgbClr val="E4EAF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60520" y="46360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KLARIFIKASI harga</a:t>
            </a:r>
            <a:endParaRPr lang="en-US" sz="1180" dirty="0"/>
          </a:p>
        </p:txBody>
      </p:sp>
      <p:sp>
        <p:nvSpPr>
          <p:cNvPr id="27" name="Text 23"/>
          <p:cNvSpPr/>
          <p:nvPr/>
        </p:nvSpPr>
        <p:spPr>
          <a:xfrm>
            <a:off x="4160520" y="49469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27 Jun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9784080" y="46542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17.518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160520" y="5257800"/>
            <a:ext cx="7269480" cy="0"/>
          </a:xfrm>
          <a:prstGeom prst="line">
            <a:avLst/>
          </a:prstGeom>
          <a:noFill/>
          <a:ln w="9525">
            <a:solidFill>
              <a:srgbClr val="E4EAF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60520" y="53126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HYROX Indonesia — Rory Asyari</a:t>
            </a:r>
            <a:endParaRPr lang="en-US" sz="1180" dirty="0"/>
          </a:p>
        </p:txBody>
      </p:sp>
      <p:sp>
        <p:nvSpPr>
          <p:cNvPr id="31" name="Text 27"/>
          <p:cNvSpPr/>
          <p:nvPr/>
        </p:nvSpPr>
        <p:spPr>
          <a:xfrm>
            <a:off x="4160520" y="5623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27–29 Jun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9784080" y="5330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13.679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160520" y="600760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bersentimen positif kecuali meme (netral-becanda). Sumber love: kolaborasi olahraga &amp; komunitas — bukan iklan produk.</a:t>
            </a:r>
            <a:endParaRPr lang="en-US" sz="980" dirty="0"/>
          </a:p>
        </p:txBody>
      </p:sp>
      <p:sp>
        <p:nvSpPr>
          <p:cNvPr id="34" name="Text 30"/>
          <p:cNvSpPr/>
          <p:nvPr/>
        </p:nvSpPr>
        <p:spPr>
          <a:xfrm>
            <a:off x="502920" y="6263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ini yang harus dilindungi tim Brand — narasi harga yang tak tertangani bisa menggerus justifikasi value-for-money di baliknya.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— APA TARUHANNYA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Jika narasi harga mengeras, ia menyerang tepat fondasi keunggulan Le Minerale.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331720"/>
            <a:ext cx="640080" cy="640080"/>
          </a:xfrm>
          <a:prstGeom prst="ellipse">
            <a:avLst/>
          </a:prstGeom>
          <a:solidFill>
            <a:srgbClr val="FBE7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981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10896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Rumor harga berulang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59359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 Minerale mahal / harga naik / boros plastik” muncul lagi tiap ada twit viral.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4078224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06824" y="205740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2331720"/>
            <a:ext cx="640080" cy="640080"/>
          </a:xfrm>
          <a:prstGeom prst="ellipse">
            <a:avLst/>
          </a:prstGeom>
          <a:solidFill>
            <a:srgbClr val="FDF1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24981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310896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Persepsi value tergerus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62856" y="359359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mulai ragu apakah harga sepadan — padahal value inilah dasar rekomendasi.</a:t>
            </a:r>
            <a:endParaRPr lang="en-US" sz="1130" dirty="0"/>
          </a:p>
        </p:txBody>
      </p:sp>
      <p:sp>
        <p:nvSpPr>
          <p:cNvPr id="15" name="Text 11"/>
          <p:cNvSpPr/>
          <p:nvPr/>
        </p:nvSpPr>
        <p:spPr>
          <a:xfrm>
            <a:off x="7882128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110728" y="205740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24981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10896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Advokasi melemah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66760" y="359359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0,62 bertumpu pada keyakinan “layak direkomendasikan”. Jika value diragukan, advokasi ikut turun.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502920" y="502920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0C1D33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yang dijaga: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sentimen negatif Le Minerale (kini 20,4%) dan share percakapan bertema harga. Turunkan keduanya sebelum jadi narasi permanen.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— DIMILIKI TIM LE MINERALE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langkah minggu depan: lindungi narasi harga, perbesar apa yang sudah dicintai.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5046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14884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863" y="2305751"/>
            <a:ext cx="289682" cy="2896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73168" y="21488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543F"/>
          </a:solidFill>
          <a:ln/>
        </p:spPr>
      </p:sp>
      <p:sp>
        <p:nvSpPr>
          <p:cNvPr id="8" name="Text 5"/>
          <p:cNvSpPr/>
          <p:nvPr/>
        </p:nvSpPr>
        <p:spPr>
          <a:xfrm>
            <a:off x="4773168" y="2148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Siapkan “price-fact” siap-pakai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08760" y="269748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CORCOMM / PR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99008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klarifikasi harga (harga eceran resmi + arti label “beli 2 lebih hemat”) yang bisa di-drop dalam 1 jam saat twit harga viral lagi.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181344" y="1874520"/>
            <a:ext cx="55046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37376" y="214884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287" y="2305751"/>
            <a:ext cx="289682" cy="28968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451592" y="21488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16" name="Text 12"/>
          <p:cNvSpPr/>
          <p:nvPr/>
        </p:nvSpPr>
        <p:spPr>
          <a:xfrm>
            <a:off x="10451592" y="2148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187184" y="214884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Perbesar mesin olahraga &amp; komunitas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187184" y="269748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PARTNERSHIP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455664" y="299008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Squad, HYROX, Persija adalah sumber engagement terdalam. Tambah frekuensi &amp; UGC — ini kanal love, bukan sekadar exposure.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02920" y="3867912"/>
            <a:ext cx="55046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58952" y="41422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63" y="4299143"/>
            <a:ext cx="289682" cy="28968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73168" y="414223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543F"/>
          </a:solidFill>
          <a:ln/>
        </p:spPr>
      </p:sp>
      <p:sp>
        <p:nvSpPr>
          <p:cNvPr id="24" name="Text 19"/>
          <p:cNvSpPr/>
          <p:nvPr/>
        </p:nvSpPr>
        <p:spPr>
          <a:xfrm>
            <a:off x="4773168" y="4142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508760" y="4142232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Aktifkan advokat di X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508760" y="46908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CX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77240" y="4983480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fans loyal ‘amunisi’ (infografis harga, fakta value) agar koreksi warganet — yang sudah terjadi organik — lebih cepat &amp; terarah saat rumor muncul.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6181344" y="3867912"/>
            <a:ext cx="550468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1D33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37376" y="41422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287" y="4299143"/>
            <a:ext cx="289682" cy="28968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451592" y="414223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A63C"/>
          </a:solidFill>
          <a:ln/>
        </p:spPr>
      </p:sp>
      <p:sp>
        <p:nvSpPr>
          <p:cNvPr id="32" name="Text 26"/>
          <p:cNvSpPr/>
          <p:nvPr/>
        </p:nvSpPr>
        <p:spPr>
          <a:xfrm>
            <a:off x="10451592" y="41422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187184" y="4142232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450" b="1" dirty="0">
                <a:solidFill>
                  <a:srgbClr val="0C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konten “value-for-money”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187184" y="46908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CONTENT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455664" y="4983480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narasi harga-per-liter &amp; mineral alami vs pesaing di TikTok/IG. Ubah isu harga dari kelemahan jadi bukti keunggulan.</a:t>
            </a:r>
            <a:endParaRPr lang="en-US" sz="1080" dirty="0"/>
          </a:p>
        </p:txBody>
      </p:sp>
      <p:sp>
        <p:nvSpPr>
          <p:cNvPr id="36" name="Text 30"/>
          <p:cNvSpPr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Pola: Fix (bendung risiko harga) · Scale (perbesar advokasi olahraga) · Test (ubah harga jadi cerita value). Semua dijalankan tim internal.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0B3D91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MINGGU INI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langkah terkecil: aktifkan protokol “price-fact” 1-jam.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 PIC Corcomm untuk menyiapkan aset klarifikasi harga siap-kirim, dengan ambang pemicu (mis. &gt;150 twit bertema harga/hari) dan alur approval cepat. Cukup untuk mengubah rumor harga berikutnya dari lonjakan negatif jadi non-isu.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737360"/>
            <a:ext cx="3273552" cy="1600200"/>
          </a:xfrm>
          <a:prstGeom prst="roundRect">
            <a:avLst>
              <a:gd name="adj" fmla="val 5714"/>
            </a:avLst>
          </a:prstGeom>
          <a:solidFill>
            <a:srgbClr val="12294A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1965960"/>
            <a:ext cx="603504" cy="603504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7991" y="212287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41080" y="2670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Corcomm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4108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F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Dampak: tekan %negatif &amp; lindungi advokasi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11183112" cy="0"/>
          </a:xfrm>
          <a:prstGeom prst="line">
            <a:avLst/>
          </a:prstGeom>
          <a:noFill/>
          <a:ln w="12700">
            <a:solidFill>
              <a:srgbClr val="2A42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&amp; SUMBER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343400"/>
            <a:ext cx="11183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Cogan social listening. Periode 20–30 Juni 2026. Total n = 9.305 percakapan lintas 8 brand.</a:t>
            </a:r>
            <a:endParaRPr lang="en-US" sz="108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Kanal: X/Twitter, TikTok, Instagram, Online Media, YouTube, Facebook. Buzz = post unik per URL.</a:t>
            </a:r>
            <a:endParaRPr lang="en-US" sz="108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dua basis: by-count (selisih %pos−%neg) &amp; engagement-weighted. Online Media tak punya engagement (dinilai via ad/PR value).</a:t>
            </a:r>
            <a:endParaRPr lang="en-US" sz="108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hasil klasifikasi otomatis — bisa keliru, terutama nada satir/becanda (mis. sebagian ‘negatif’ 27 Jun justru mengoreksi rumor).</a:t>
            </a:r>
            <a:endParaRPr lang="en-US" sz="108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AE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dikunci sekali &amp; konsisten di seluruh laporan. Kutipan diambil dari post asli bertautan.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Cogan Social Listening  ·  20–30 Juni 2026  ·  Rahasia — untuk internal Le Minerale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Minerale Weekly Insight Report 20-30 Jun 2026</dc:title>
  <dc:subject>PptxGenJS Presentation</dc:subject>
  <dc:creator>Social Insight Team</dc:creator>
  <cp:lastModifiedBy>Social Insight Team</cp:lastModifiedBy>
  <cp:revision>1</cp:revision>
  <dcterms:created xsi:type="dcterms:W3CDTF">2026-07-01T14:32:16Z</dcterms:created>
  <dcterms:modified xsi:type="dcterms:W3CDTF">2026-07-01T14:32:16Z</dcterms:modified>
</cp:coreProperties>
</file>